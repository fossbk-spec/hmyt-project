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Lato Bold" charset="1" panose="020F0502020204030203"/>
      <p:regular r:id="rId25"/>
    </p:embeddedFont>
    <p:embeddedFont>
      <p:font typeface="Lato" charset="1" panose="020F05020202040302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Nhóm em thực hiện đề tài dự báo nguy cơ tái nhập viện trong vòng 30 ngày ở bệnh nhân suy tim từ dữ liệu bệnh án điện tử, kết hợp Explainable AI. Mục tiêu không chỉ là dự đoán bệnh nhân có nguy cơ quay lại viện mà còn giải thích được yếu tố nào đóng góp vào dự đoán đó</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làm kĩ, chọn bài có code, dataset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Dataset chính của đề tài là MIMIC-IV v3.1. Nhóm đã được cấp quyền truy cập, tải dữ liệu đầy đủ và hoàn thành xây dựng cohort suy tim, nhãn tái nhập viện 30 ngày và bộ đặc trưng trước mô hình.”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xử lý MIMIC-IV v3.1 đầy đủ, nhóm thu được 28.376 bệnh nhân suy tim với 70.066 lượt nhập viện. Có 17.522 lượt tái nhập viện trong 30 ngày, tương ứng 25,01%. Dữ liệu có mất cân bằng lớp khoảng 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“EDA trên full MIMIC-IV cho thấy các xét nghiệm máu chính có độ đầy đủ khá tốt, nhưng các biến OMR như huyết áp, BMI, cân nặng và đặc biệt eGFR có tỷ lệ thiếu rất cao. Vì vậy nhóm sẽ cân nhắc loại các biến quá thiếu hoặc chỉ dùng nếu có phương án xử lý hợp lý.”</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Dùng để quan sát mối liên hệ tuyến tính giữa các biến và phát hiện feature có khả năng dư thừa.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EDA, nhóm tiến hành tiền xử lý trên MIMIC-IV v3.1. Trước tiên nhóm xác định cohort suy tim bằng mã ICD, sau đó áp dụng tiêu chí lựa chọn bệnh nhân. Với mỗi lần nhập viện đủ điều kiện, nhóm tạo nhãn tái nhập viện trong vòng 30 ngày và xây dựng các nhóm đặc trưng lâm sàng. Các biến không phù hợp được loại dựa trên EDA, sau đó dữ liệu được kiểm tra chất lượng và chia theo bệnh nhân để chuẩn bị cho mô hình.”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xây dựng cohort, nhóm tổng hợp đặc trưng từ nhiều bảng EHR. Các đặc trưng không chỉ gồm thông tin nhân khẩu học mà còn có tiền sử nhập viện, bệnh đồng mắc, thuốc đang sử dụng, kết quả xét nghiệm và các thông tin OMR. Tổng cộng dataset hiện có 46 cột dự báo trước bước mã hóa.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Để tránh rò rỉ dữ liệu, nhóm không chia ngẫu nhiên theo từng admission mà chia theo subject_id. Như vậy mọi lần nhập viện của cùng một bệnh nhân chỉ xuất hiện trong một tập. Các bước như điền dữ liệu thiếu, chuẩn hóa và mã hóa chỉ được học từ tập Train; Validation và Test chỉ sử dụng phép biến đổi đã học từ Train. </a:t>
            </a:r>
          </a:p>
          <a:p>
            <a:r>
              <a:rPr lang="en-US"/>
              <a:t>Các bước Fit Imputer, StandardScaler và One-Hot Encoder sẽ được thực hiện trên Train ở giai đoạn model.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đang lm đến đâu, tsau lm gì</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png" Type="http://schemas.openxmlformats.org/officeDocument/2006/relationships/image"/><Relationship Id="rId4" Target="../media/image4.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79949" y="497072"/>
            <a:ext cx="4761547" cy="1429464"/>
            <a:chOff x="0" y="0"/>
            <a:chExt cx="6348730" cy="1905952"/>
          </a:xfrm>
        </p:grpSpPr>
        <p:sp>
          <p:nvSpPr>
            <p:cNvPr name="Freeform 4" id="4"/>
            <p:cNvSpPr/>
            <p:nvPr/>
          </p:nvSpPr>
          <p:spPr>
            <a:xfrm flipH="false" flipV="false" rot="0">
              <a:off x="0" y="0"/>
              <a:ext cx="6348730" cy="1905889"/>
            </a:xfrm>
            <a:custGeom>
              <a:avLst/>
              <a:gdLst/>
              <a:ahLst/>
              <a:cxnLst/>
              <a:rect r="r" b="b" t="t" l="l"/>
              <a:pathLst>
                <a:path h="1905889" w="6348730">
                  <a:moveTo>
                    <a:pt x="0" y="0"/>
                  </a:moveTo>
                  <a:lnTo>
                    <a:pt x="6348730" y="0"/>
                  </a:lnTo>
                  <a:lnTo>
                    <a:pt x="6348730" y="1905889"/>
                  </a:lnTo>
                  <a:lnTo>
                    <a:pt x="0" y="1905889"/>
                  </a:lnTo>
                  <a:lnTo>
                    <a:pt x="0" y="0"/>
                  </a:lnTo>
                  <a:close/>
                </a:path>
              </a:pathLst>
            </a:custGeom>
            <a:blipFill>
              <a:blip r:embed="rId3"/>
              <a:stretch>
                <a:fillRect l="0" t="0" r="0" b="-3"/>
              </a:stretch>
            </a:blipFill>
          </p:spPr>
        </p:sp>
      </p:grpSp>
      <p:sp>
        <p:nvSpPr>
          <p:cNvPr name="TextBox 5" id="5"/>
          <p:cNvSpPr txBox="true"/>
          <p:nvPr/>
        </p:nvSpPr>
        <p:spPr>
          <a:xfrm rot="0">
            <a:off x="579949" y="2332094"/>
            <a:ext cx="14907986" cy="2811406"/>
          </a:xfrm>
          <a:prstGeom prst="rect">
            <a:avLst/>
          </a:prstGeom>
        </p:spPr>
        <p:txBody>
          <a:bodyPr anchor="t" rtlCol="false" tIns="0" lIns="0" bIns="0" rIns="0">
            <a:spAutoFit/>
          </a:bodyPr>
          <a:lstStyle/>
          <a:p>
            <a:pPr algn="just">
              <a:lnSpc>
                <a:spcPts val="5508"/>
              </a:lnSpc>
            </a:pPr>
            <a:r>
              <a:rPr lang="en-US" b="true" sz="5100">
                <a:solidFill>
                  <a:srgbClr val="C00000"/>
                </a:solidFill>
                <a:latin typeface="Lato Bold"/>
                <a:ea typeface="Lato Bold"/>
                <a:cs typeface="Lato Bold"/>
                <a:sym typeface="Lato Bold"/>
              </a:rPr>
              <a:t>DỰ BÁO NGUY CƠ TÁI NHẬP VIỆN 30 NGÀY Ở BỆNH NHÂN SUY TIM TỪ DỮ LIỆU BỆNH ÁN ĐIỆN TỬ BẰNG MÔ HÌNH HỌC MÁY GIẢI THÍCH ĐƯỢC (EXPLAINABLE AI)</a:t>
            </a:r>
          </a:p>
        </p:txBody>
      </p:sp>
      <p:sp>
        <p:nvSpPr>
          <p:cNvPr name="TextBox 6" id="6"/>
          <p:cNvSpPr txBox="true"/>
          <p:nvPr/>
        </p:nvSpPr>
        <p:spPr>
          <a:xfrm rot="0">
            <a:off x="579949" y="5172075"/>
            <a:ext cx="3691486" cy="2210943"/>
          </a:xfrm>
          <a:prstGeom prst="rect">
            <a:avLst/>
          </a:prstGeom>
        </p:spPr>
        <p:txBody>
          <a:bodyPr anchor="t" rtlCol="false" tIns="0" lIns="0" bIns="0" rIns="0">
            <a:spAutoFit/>
          </a:bodyPr>
          <a:lstStyle/>
          <a:p>
            <a:pPr algn="r">
              <a:lnSpc>
                <a:spcPts val="3456"/>
              </a:lnSpc>
            </a:pPr>
            <a:r>
              <a:rPr lang="en-US" sz="3200">
                <a:solidFill>
                  <a:srgbClr val="C00000"/>
                </a:solidFill>
                <a:latin typeface="Lato"/>
                <a:ea typeface="Lato"/>
                <a:cs typeface="Lato"/>
                <a:sym typeface="Lato"/>
              </a:rPr>
              <a:t>GVHD:</a:t>
            </a:r>
          </a:p>
          <a:p>
            <a:pPr algn="r">
              <a:lnSpc>
                <a:spcPts val="3456"/>
              </a:lnSpc>
            </a:pPr>
            <a:r>
              <a:rPr lang="en-US" sz="3200">
                <a:solidFill>
                  <a:srgbClr val="C00000"/>
                </a:solidFill>
                <a:latin typeface="Lato"/>
                <a:ea typeface="Lato"/>
                <a:cs typeface="Lato"/>
                <a:sym typeface="Lato"/>
              </a:rPr>
              <a:t>Mã lớp:</a:t>
            </a:r>
          </a:p>
          <a:p>
            <a:pPr algn="r">
              <a:lnSpc>
                <a:spcPts val="3456"/>
              </a:lnSpc>
            </a:pPr>
            <a:r>
              <a:rPr lang="en-US" sz="3200">
                <a:solidFill>
                  <a:srgbClr val="C00000"/>
                </a:solidFill>
                <a:latin typeface="Lato"/>
                <a:ea typeface="Lato"/>
                <a:cs typeface="Lato"/>
                <a:sym typeface="Lato"/>
              </a:rPr>
              <a:t>Mã HP:</a:t>
            </a:r>
          </a:p>
          <a:p>
            <a:pPr algn="r">
              <a:lnSpc>
                <a:spcPts val="3456"/>
              </a:lnSpc>
            </a:pPr>
            <a:r>
              <a:rPr lang="en-US" sz="3200">
                <a:solidFill>
                  <a:srgbClr val="C00000"/>
                </a:solidFill>
                <a:latin typeface="Lato"/>
                <a:ea typeface="Lato"/>
                <a:cs typeface="Lato"/>
                <a:sym typeface="Lato"/>
              </a:rPr>
              <a:t>Nhóm:</a:t>
            </a:r>
          </a:p>
          <a:p>
            <a:pPr algn="r">
              <a:lnSpc>
                <a:spcPts val="3456"/>
              </a:lnSpc>
            </a:pPr>
            <a:r>
              <a:rPr lang="en-US" sz="3200">
                <a:solidFill>
                  <a:srgbClr val="C00000"/>
                </a:solidFill>
                <a:latin typeface="Lato"/>
                <a:ea typeface="Lato"/>
                <a:cs typeface="Lato"/>
                <a:sym typeface="Lato"/>
              </a:rPr>
              <a:t>SV thực hiện:</a:t>
            </a:r>
          </a:p>
        </p:txBody>
      </p:sp>
      <p:sp>
        <p:nvSpPr>
          <p:cNvPr name="TextBox 7" id="7"/>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3</a:t>
            </a:r>
          </a:p>
        </p:txBody>
      </p:sp>
      <p:sp>
        <p:nvSpPr>
          <p:cNvPr name="TextBox 8" id="8"/>
          <p:cNvSpPr txBox="true"/>
          <p:nvPr/>
        </p:nvSpPr>
        <p:spPr>
          <a:xfrm rot="0">
            <a:off x="4495906" y="5172075"/>
            <a:ext cx="4809148" cy="2649093"/>
          </a:xfrm>
          <a:prstGeom prst="rect">
            <a:avLst/>
          </a:prstGeom>
        </p:spPr>
        <p:txBody>
          <a:bodyPr anchor="t" rtlCol="false" tIns="0" lIns="0" bIns="0" rIns="0">
            <a:spAutoFit/>
          </a:bodyPr>
          <a:lstStyle/>
          <a:p>
            <a:pPr algn="l">
              <a:lnSpc>
                <a:spcPts val="3456"/>
              </a:lnSpc>
            </a:pPr>
            <a:r>
              <a:rPr lang="en-US" sz="3200">
                <a:solidFill>
                  <a:srgbClr val="C00000"/>
                </a:solidFill>
                <a:latin typeface="Lato"/>
                <a:ea typeface="Lato"/>
                <a:cs typeface="Lato"/>
                <a:sym typeface="Lato"/>
              </a:rPr>
              <a:t>Ths. Hoàng Quang Huy</a:t>
            </a:r>
          </a:p>
          <a:p>
            <a:pPr algn="l">
              <a:lnSpc>
                <a:spcPts val="3456"/>
              </a:lnSpc>
            </a:pPr>
            <a:r>
              <a:rPr lang="en-US" sz="3200">
                <a:solidFill>
                  <a:srgbClr val="C00000"/>
                </a:solidFill>
                <a:latin typeface="Lato"/>
                <a:ea typeface="Lato"/>
                <a:cs typeface="Lato"/>
                <a:sym typeface="Lato"/>
              </a:rPr>
              <a:t>176336</a:t>
            </a:r>
          </a:p>
          <a:p>
            <a:pPr algn="l">
              <a:lnSpc>
                <a:spcPts val="3456"/>
              </a:lnSpc>
            </a:pPr>
            <a:r>
              <a:rPr lang="en-US" sz="3200">
                <a:solidFill>
                  <a:srgbClr val="C00000"/>
                </a:solidFill>
                <a:latin typeface="Lato"/>
                <a:ea typeface="Lato"/>
                <a:cs typeface="Lato"/>
                <a:sym typeface="Lato"/>
              </a:rPr>
              <a:t>ET4248</a:t>
            </a:r>
          </a:p>
          <a:p>
            <a:pPr algn="l">
              <a:lnSpc>
                <a:spcPts val="3456"/>
              </a:lnSpc>
            </a:pPr>
            <a:r>
              <a:rPr lang="en-US" sz="3200">
                <a:solidFill>
                  <a:srgbClr val="C00000"/>
                </a:solidFill>
                <a:latin typeface="Lato"/>
                <a:ea typeface="Lato"/>
                <a:cs typeface="Lato"/>
                <a:sym typeface="Lato"/>
              </a:rPr>
              <a:t>10</a:t>
            </a:r>
          </a:p>
          <a:p>
            <a:pPr algn="l">
              <a:lnSpc>
                <a:spcPts val="3456"/>
              </a:lnSpc>
            </a:pPr>
            <a:r>
              <a:rPr lang="en-US" sz="3200">
                <a:solidFill>
                  <a:srgbClr val="C00000"/>
                </a:solidFill>
                <a:latin typeface="Lato"/>
                <a:ea typeface="Lato"/>
                <a:cs typeface="Lato"/>
                <a:sym typeface="Lato"/>
              </a:rPr>
              <a:t>Lê Thu Trang - 20233815</a:t>
            </a:r>
          </a:p>
          <a:p>
            <a:pPr algn="l">
              <a:lnSpc>
                <a:spcPts val="3456"/>
              </a:lnSpc>
            </a:pPr>
            <a:r>
              <a:rPr lang="en-US" sz="3200">
                <a:solidFill>
                  <a:srgbClr val="C00000"/>
                </a:solidFill>
                <a:latin typeface="Lato"/>
                <a:ea typeface="Lato"/>
                <a:cs typeface="Lato"/>
                <a:sym typeface="Lato"/>
              </a:rPr>
              <a:t>Lê Thúy Hằng - 20233749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5</a:t>
            </a:r>
          </a:p>
        </p:txBody>
      </p:sp>
      <p:sp>
        <p:nvSpPr>
          <p:cNvPr name="TextBox 4" id="4"/>
          <p:cNvSpPr txBox="true"/>
          <p:nvPr/>
        </p:nvSpPr>
        <p:spPr>
          <a:xfrm rot="0">
            <a:off x="452388" y="2309241"/>
            <a:ext cx="16806912" cy="5082159"/>
          </a:xfrm>
          <a:prstGeom prst="rect">
            <a:avLst/>
          </a:prstGeom>
        </p:spPr>
        <p:txBody>
          <a:bodyPr anchor="t" rtlCol="false" tIns="0" lIns="0" bIns="0" rIns="0">
            <a:spAutoFit/>
          </a:bodyPr>
          <a:lstStyle/>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Bối cảnh lâm sàng &amp; Tính cấp bách </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Phát biểu bài toán &amp; Phân tích chi phí sai số </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Tổng quan y văn</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 Khoảng trống nghiên cứu</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Dataset</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EDA</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Qui trình tiền xử lý</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Timeline</a:t>
            </a:r>
          </a:p>
          <a:p>
            <a:pPr algn="l" marL="885191" indent="-442595" lvl="1">
              <a:lnSpc>
                <a:spcPts val="4428"/>
              </a:lnSpc>
              <a:buAutoNum type="arabicPeriod" startAt="1"/>
            </a:pPr>
            <a:r>
              <a:rPr lang="en-US" b="true" sz="4100">
                <a:solidFill>
                  <a:srgbClr val="000000"/>
                </a:solidFill>
                <a:latin typeface="Lato Bold"/>
                <a:ea typeface="Lato Bold"/>
                <a:cs typeface="Lato Bold"/>
                <a:sym typeface="Lato Bold"/>
              </a:rPr>
              <a:t>Workflow</a:t>
            </a:r>
          </a:p>
        </p:txBody>
      </p:sp>
      <p:sp>
        <p:nvSpPr>
          <p:cNvPr name="TextBox 5" id="5"/>
          <p:cNvSpPr txBox="true"/>
          <p:nvPr/>
        </p:nvSpPr>
        <p:spPr>
          <a:xfrm rot="0">
            <a:off x="228094" y="230556"/>
            <a:ext cx="3691486"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MỤC LỤC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526892" y="1950090"/>
            <a:ext cx="10649058" cy="5751195"/>
          </a:xfrm>
          <a:prstGeom prst="rect">
            <a:avLst/>
          </a:prstGeom>
        </p:spPr>
        <p:txBody>
          <a:bodyPr anchor="t" rtlCol="false" tIns="0" lIns="0" bIns="0" rIns="0">
            <a:spAutoFit/>
          </a:bodyPr>
          <a:lstStyle/>
          <a:p>
            <a:pPr algn="just" marL="647706" indent="-323853" lvl="1">
              <a:lnSpc>
                <a:spcPts val="3240"/>
              </a:lnSpc>
              <a:buFont typeface="Arial"/>
              <a:buChar char="•"/>
            </a:pPr>
            <a:r>
              <a:rPr lang="en-US" sz="3000">
                <a:solidFill>
                  <a:srgbClr val="000000"/>
                </a:solidFill>
                <a:latin typeface="Lato"/>
                <a:ea typeface="Lato"/>
                <a:cs typeface="Lato"/>
                <a:sym typeface="Lato"/>
              </a:rPr>
              <a:t>Suy tim là bệnh mạn tính có tỷ lệ nhập viện và tái nhập viện cao, đặc bi</a:t>
            </a:r>
            <a:r>
              <a:rPr lang="en-US" sz="3000">
                <a:solidFill>
                  <a:srgbClr val="000000"/>
                </a:solidFill>
                <a:latin typeface="Lato"/>
                <a:ea typeface="Lato"/>
                <a:cs typeface="Lato"/>
                <a:sym typeface="Lato"/>
              </a:rPr>
              <a:t>ệt trong giai đoạn sớm sau xuất viện.</a:t>
            </a:r>
          </a:p>
          <a:p>
            <a:pPr algn="just" marL="647706" indent="-323853" lvl="1">
              <a:lnSpc>
                <a:spcPts val="3240"/>
              </a:lnSpc>
              <a:buFont typeface="Arial"/>
              <a:buChar char="•"/>
            </a:pPr>
            <a:r>
              <a:rPr lang="en-US" sz="3000">
                <a:solidFill>
                  <a:srgbClr val="000000"/>
                </a:solidFill>
                <a:latin typeface="Lato"/>
                <a:ea typeface="Lato"/>
                <a:cs typeface="Lato"/>
                <a:sym typeface="Lato"/>
              </a:rPr>
              <a:t>Tái nhập viện trong 30 ngày là một chỉ số quan trọng phản ánh nguy cơ biến cố sau điều trị và chất lượng chăm sóc.</a:t>
            </a:r>
          </a:p>
          <a:p>
            <a:pPr algn="just" marL="647706" indent="-323853" lvl="1">
              <a:lnSpc>
                <a:spcPts val="3240"/>
              </a:lnSpc>
              <a:buFont typeface="Arial"/>
              <a:buChar char="•"/>
            </a:pPr>
            <a:r>
              <a:rPr lang="en-US" sz="3000">
                <a:solidFill>
                  <a:srgbClr val="000000"/>
                </a:solidFill>
                <a:latin typeface="Lato"/>
                <a:ea typeface="Lato"/>
                <a:cs typeface="Lato"/>
                <a:sym typeface="Lato"/>
              </a:rPr>
              <a:t>Việc xác</a:t>
            </a:r>
            <a:r>
              <a:rPr lang="en-US" sz="3000">
                <a:solidFill>
                  <a:srgbClr val="000000"/>
                </a:solidFill>
                <a:latin typeface="Lato"/>
                <a:ea typeface="Lato"/>
                <a:cs typeface="Lato"/>
                <a:sym typeface="Lato"/>
              </a:rPr>
              <a:t> định sớm bệnh nhân có nguy cơ cao giúp bác sĩ theo dõi sát hơn, tối ưu điều trị và lập kế ho</a:t>
            </a:r>
            <a:r>
              <a:rPr lang="en-US" sz="3000">
                <a:solidFill>
                  <a:srgbClr val="000000"/>
                </a:solidFill>
                <a:latin typeface="Lato"/>
                <a:ea typeface="Lato"/>
                <a:cs typeface="Lato"/>
                <a:sym typeface="Lato"/>
              </a:rPr>
              <a:t>ạch chăm sóc sau xuất viện.</a:t>
            </a:r>
          </a:p>
          <a:p>
            <a:pPr algn="just" marL="647706" indent="-323853" lvl="1">
              <a:lnSpc>
                <a:spcPts val="3240"/>
              </a:lnSpc>
              <a:buFont typeface="Arial"/>
              <a:buChar char="•"/>
            </a:pPr>
            <a:r>
              <a:rPr lang="en-US" sz="3000">
                <a:solidFill>
                  <a:srgbClr val="000000"/>
                </a:solidFill>
                <a:latin typeface="Lato"/>
                <a:ea typeface="Lato"/>
                <a:cs typeface="Lato"/>
                <a:sym typeface="Lato"/>
              </a:rPr>
              <a:t>Dữ liệu bệnh án điện tử chứa nhiều thông tin có giá trị như tuổi, tiền sử nhập viện, chẩn đoán, thuốc, xét nghiệm và thời gian nằm viện.</a:t>
            </a:r>
          </a:p>
          <a:p>
            <a:pPr algn="just" marL="647706" indent="-323853" lvl="1">
              <a:lnSpc>
                <a:spcPts val="3240"/>
              </a:lnSpc>
              <a:buFont typeface="Arial"/>
              <a:buChar char="•"/>
            </a:pPr>
            <a:r>
              <a:rPr lang="en-US" sz="3000">
                <a:solidFill>
                  <a:srgbClr val="000000"/>
                </a:solidFill>
                <a:latin typeface="Lato"/>
                <a:ea typeface="Lato"/>
                <a:cs typeface="Lato"/>
                <a:sym typeface="Lato"/>
              </a:rPr>
              <a:t>Đề tài sử dụng học máy kết hợp Explainable AI để dự báo nguy cơ tái nhập viện 30 ngày và giải thích các yếu tố ảnh hưởng đến dự đoán.</a:t>
            </a:r>
          </a:p>
          <a:p>
            <a:pPr algn="just">
              <a:lnSpc>
                <a:spcPts val="3240"/>
              </a:lnSpc>
            </a:pPr>
          </a:p>
        </p:txBody>
      </p:sp>
      <p:sp>
        <p:nvSpPr>
          <p:cNvPr name="Freeform 4" id="4"/>
          <p:cNvSpPr/>
          <p:nvPr/>
        </p:nvSpPr>
        <p:spPr>
          <a:xfrm flipH="false" flipV="false" rot="0">
            <a:off x="11465237" y="2048812"/>
            <a:ext cx="6292888" cy="4090377"/>
          </a:xfrm>
          <a:custGeom>
            <a:avLst/>
            <a:gdLst/>
            <a:ahLst/>
            <a:cxnLst/>
            <a:rect r="r" b="b" t="t" l="l"/>
            <a:pathLst>
              <a:path h="4090377" w="6292888">
                <a:moveTo>
                  <a:pt x="0" y="0"/>
                </a:moveTo>
                <a:lnTo>
                  <a:pt x="6292887" y="0"/>
                </a:lnTo>
                <a:lnTo>
                  <a:pt x="6292887" y="4090377"/>
                </a:lnTo>
                <a:lnTo>
                  <a:pt x="0" y="4090377"/>
                </a:lnTo>
                <a:lnTo>
                  <a:pt x="0" y="0"/>
                </a:lnTo>
                <a:close/>
              </a:path>
            </a:pathLst>
          </a:custGeom>
          <a:blipFill>
            <a:blip r:embed="rId4"/>
            <a:stretch>
              <a:fillRect l="0" t="0" r="0" b="0"/>
            </a:stretch>
          </a:blipFill>
        </p:spPr>
      </p:sp>
      <p:sp>
        <p:nvSpPr>
          <p:cNvPr name="Freeform 5" id="5"/>
          <p:cNvSpPr/>
          <p:nvPr/>
        </p:nvSpPr>
        <p:spPr>
          <a:xfrm flipH="false" flipV="false" rot="0">
            <a:off x="526892" y="7602060"/>
            <a:ext cx="1380645" cy="386581"/>
          </a:xfrm>
          <a:custGeom>
            <a:avLst/>
            <a:gdLst/>
            <a:ahLst/>
            <a:cxnLst/>
            <a:rect r="r" b="b" t="t" l="l"/>
            <a:pathLst>
              <a:path h="386581" w="1380645">
                <a:moveTo>
                  <a:pt x="0" y="0"/>
                </a:moveTo>
                <a:lnTo>
                  <a:pt x="1380646" y="0"/>
                </a:lnTo>
                <a:lnTo>
                  <a:pt x="1380646" y="386581"/>
                </a:lnTo>
                <a:lnTo>
                  <a:pt x="0" y="386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5</a:t>
            </a:r>
          </a:p>
        </p:txBody>
      </p:sp>
      <p:sp>
        <p:nvSpPr>
          <p:cNvPr name="TextBox 7" id="7"/>
          <p:cNvSpPr txBox="true"/>
          <p:nvPr/>
        </p:nvSpPr>
        <p:spPr>
          <a:xfrm rot="0">
            <a:off x="228094" y="230556"/>
            <a:ext cx="9690368"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Bối cảnh lâm sàng &amp; Tính cấp bách </a:t>
            </a:r>
          </a:p>
        </p:txBody>
      </p:sp>
      <p:sp>
        <p:nvSpPr>
          <p:cNvPr name="TextBox 8" id="8"/>
          <p:cNvSpPr txBox="true"/>
          <p:nvPr/>
        </p:nvSpPr>
        <p:spPr>
          <a:xfrm rot="0">
            <a:off x="2107205" y="7630635"/>
            <a:ext cx="15650919" cy="836295"/>
          </a:xfrm>
          <a:prstGeom prst="rect">
            <a:avLst/>
          </a:prstGeom>
        </p:spPr>
        <p:txBody>
          <a:bodyPr anchor="t" rtlCol="false" tIns="0" lIns="0" bIns="0" rIns="0">
            <a:spAutoFit/>
          </a:bodyPr>
          <a:lstStyle/>
          <a:p>
            <a:pPr algn="just">
              <a:lnSpc>
                <a:spcPts val="3240"/>
              </a:lnSpc>
              <a:spcBef>
                <a:spcPct val="0"/>
              </a:spcBef>
            </a:pPr>
            <a:r>
              <a:rPr lang="en-US" b="true" sz="3000">
                <a:solidFill>
                  <a:srgbClr val="000000"/>
                </a:solidFill>
                <a:latin typeface="Lato Bold"/>
                <a:ea typeface="Lato Bold"/>
                <a:cs typeface="Lato Bold"/>
                <a:sym typeface="Lato Bold"/>
              </a:rPr>
              <a:t>Mụ</a:t>
            </a:r>
            <a:r>
              <a:rPr lang="en-US" b="true" sz="3000">
                <a:solidFill>
                  <a:srgbClr val="000000"/>
                </a:solidFill>
                <a:latin typeface="Lato Bold"/>
                <a:ea typeface="Lato Bold"/>
                <a:cs typeface="Lato Bold"/>
                <a:sym typeface="Lato Bold"/>
              </a:rPr>
              <a:t>c tiêu lâm sàng:</a:t>
            </a:r>
            <a:r>
              <a:rPr lang="en-US" sz="3000">
                <a:solidFill>
                  <a:srgbClr val="000000"/>
                </a:solidFill>
                <a:latin typeface="Lato"/>
                <a:ea typeface="Lato"/>
                <a:cs typeface="Lato"/>
                <a:sym typeface="Lato"/>
              </a:rPr>
              <a:t> hỗ trợ nhận diện sớm bệnh nhân suy tim có nguy cơ tái nhập viện cao trong vòng 30 ngày sau xuất viện.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760606" y="2483139"/>
          <a:ext cx="16766787" cy="7212806"/>
        </p:xfrm>
        <a:graphic>
          <a:graphicData uri="http://schemas.openxmlformats.org/drawingml/2006/table">
            <a:tbl>
              <a:tblPr/>
              <a:tblGrid>
                <a:gridCol w="9069235"/>
                <a:gridCol w="7697552"/>
              </a:tblGrid>
              <a:tr h="909680">
                <a:tc>
                  <a:txBody>
                    <a:bodyPr anchor="t" rtlCol="false"/>
                    <a:lstStyle/>
                    <a:p>
                      <a:pPr algn="ctr">
                        <a:lnSpc>
                          <a:spcPts val="3359"/>
                        </a:lnSpc>
                        <a:defRPr/>
                      </a:pPr>
                      <a:r>
                        <a:rPr lang="en-US" sz="2399" b="true">
                          <a:solidFill>
                            <a:srgbClr val="000000"/>
                          </a:solidFill>
                          <a:latin typeface="Lato Bold"/>
                          <a:ea typeface="Lato Bold"/>
                          <a:cs typeface="Lato Bold"/>
                          <a:sym typeface="Lato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b="true">
                          <a:solidFill>
                            <a:srgbClr val="000000"/>
                          </a:solidFill>
                          <a:latin typeface="Lato Bold"/>
                          <a:ea typeface="Lato Bold"/>
                          <a:cs typeface="Lato Bold"/>
                          <a:sym typeface="Lato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6303126">
                <a:tc>
                  <a:txBody>
                    <a:bodyPr anchor="t" rtlCol="false"/>
                    <a:lstStyle/>
                    <a:p>
                      <a:pPr algn="just">
                        <a:lnSpc>
                          <a:spcPts val="335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499"/>
                        </a:lnSpc>
                        <a:defRPr/>
                      </a:pPr>
                      <a:r>
                        <a:rPr lang="en-US" sz="2499" b="true">
                          <a:solidFill>
                            <a:srgbClr val="000000"/>
                          </a:solidFill>
                          <a:latin typeface="Lato Bold"/>
                          <a:ea typeface="Lato Bold"/>
                          <a:cs typeface="Lato Bold"/>
                          <a:sym typeface="Lato Bold"/>
                        </a:rPr>
                        <a:t>Nhãn phân loại nhị phân:</a:t>
                      </a:r>
                      <a:endParaRPr lang="en-US" sz="1100"/>
                    </a:p>
                    <a:p>
                      <a:pPr algn="just" marL="539748" indent="-269874" lvl="1">
                        <a:lnSpc>
                          <a:spcPts val="3499"/>
                        </a:lnSpc>
                        <a:buFont typeface="Arial"/>
                        <a:buChar char="•"/>
                      </a:pPr>
                      <a:r>
                        <a:rPr lang="en-US" sz="2499">
                          <a:solidFill>
                            <a:srgbClr val="000000"/>
                          </a:solidFill>
                          <a:latin typeface="Lato"/>
                          <a:ea typeface="Lato"/>
                          <a:cs typeface="Lato"/>
                          <a:sym typeface="Lato"/>
                        </a:rPr>
                        <a:t>Y = 1: Có tái nhập viện trong vòng 30 ngày sau xuất viện.</a:t>
                      </a:r>
                    </a:p>
                    <a:p>
                      <a:pPr algn="just" marL="539748" indent="-269874" lvl="1">
                        <a:lnSpc>
                          <a:spcPts val="3499"/>
                        </a:lnSpc>
                        <a:buFont typeface="Arial"/>
                        <a:buChar char="•"/>
                      </a:pPr>
                      <a:r>
                        <a:rPr lang="en-US" sz="2499">
                          <a:solidFill>
                            <a:srgbClr val="000000"/>
                          </a:solidFill>
                          <a:latin typeface="Lato"/>
                          <a:ea typeface="Lato"/>
                          <a:cs typeface="Lato"/>
                          <a:sym typeface="Lato"/>
                        </a:rPr>
                        <a:t>Y = 0: Không tái nhập viện trong vòng 30 ngày sau xuất viện.</a:t>
                      </a:r>
                    </a:p>
                    <a:p>
                      <a:pPr algn="just">
                        <a:lnSpc>
                          <a:spcPts val="3499"/>
                        </a:lnSpc>
                      </a:pPr>
                      <a:r>
                        <a:rPr lang="en-US" sz="2499" b="true">
                          <a:solidFill>
                            <a:srgbClr val="000000"/>
                          </a:solidFill>
                          <a:latin typeface="Lato Bold"/>
                          <a:ea typeface="Lato Bold"/>
                          <a:cs typeface="Lato Bold"/>
                          <a:sym typeface="Lato Bold"/>
                        </a:rPr>
                        <a:t>Xác suất dự đoán: </a:t>
                      </a:r>
                      <a:r>
                        <a:rPr lang="en-US" sz="2499">
                          <a:solidFill>
                            <a:srgbClr val="000000"/>
                          </a:solidFill>
                          <a:latin typeface="Lato"/>
                          <a:ea typeface="Lato"/>
                          <a:cs typeface="Lato"/>
                          <a:sym typeface="Lato"/>
                        </a:rPr>
                        <a:t>Mô hình trả về xác suất bệnh nhân tái nhập viện trong vòng 30 ngày (0–100%), hỗ trợ đánh giá mức độ nguy cơ và phân loại bệnh nhân.</a:t>
                      </a:r>
                    </a:p>
                    <a:p>
                      <a:pPr algn="just">
                        <a:lnSpc>
                          <a:spcPts val="3499"/>
                        </a:lnSpc>
                      </a:pPr>
                      <a:r>
                        <a:rPr lang="en-US" sz="2499" b="true">
                          <a:solidFill>
                            <a:srgbClr val="000000"/>
                          </a:solidFill>
                          <a:latin typeface="Lato Bold"/>
                          <a:ea typeface="Lato Bold"/>
                          <a:cs typeface="Lato Bold"/>
                          <a:sym typeface="Lato Bold"/>
                        </a:rPr>
                        <a:t>Giải thích dự đoán: </a:t>
                      </a:r>
                      <a:r>
                        <a:rPr lang="en-US" sz="2499">
                          <a:solidFill>
                            <a:srgbClr val="000000"/>
                          </a:solidFill>
                          <a:latin typeface="Lato"/>
                          <a:ea typeface="Lato"/>
                          <a:cs typeface="Lato"/>
                          <a:sym typeface="Lato"/>
                        </a:rPr>
                        <a:t>Định lượng mức độ đóng góp của từng đặc trưng vào dự đoán bằng SHAP.</a:t>
                      </a:r>
                    </a:p>
                    <a:p>
                      <a:pPr algn="just">
                        <a:lnSpc>
                          <a:spcPts val="34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6</a:t>
            </a:r>
          </a:p>
        </p:txBody>
      </p:sp>
      <p:sp>
        <p:nvSpPr>
          <p:cNvPr name="TextBox 5" id="5"/>
          <p:cNvSpPr txBox="true"/>
          <p:nvPr/>
        </p:nvSpPr>
        <p:spPr>
          <a:xfrm rot="0">
            <a:off x="228094" y="230556"/>
            <a:ext cx="11446694"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Phát biểu bài toán  </a:t>
            </a:r>
          </a:p>
        </p:txBody>
      </p:sp>
      <p:sp>
        <p:nvSpPr>
          <p:cNvPr name="TextBox 6" id="6"/>
          <p:cNvSpPr txBox="true"/>
          <p:nvPr/>
        </p:nvSpPr>
        <p:spPr>
          <a:xfrm rot="0">
            <a:off x="492513" y="1286105"/>
            <a:ext cx="17302974" cy="1107948"/>
          </a:xfrm>
          <a:prstGeom prst="rect">
            <a:avLst/>
          </a:prstGeom>
        </p:spPr>
        <p:txBody>
          <a:bodyPr anchor="t" rtlCol="false" tIns="0" lIns="0" bIns="0" rIns="0">
            <a:spAutoFit/>
          </a:bodyPr>
          <a:lstStyle/>
          <a:p>
            <a:pPr algn="just">
              <a:lnSpc>
                <a:spcPts val="2916"/>
              </a:lnSpc>
            </a:pPr>
            <a:r>
              <a:rPr lang="en-US" sz="2700" b="true">
                <a:solidFill>
                  <a:srgbClr val="000000"/>
                </a:solidFill>
                <a:latin typeface="Lato Bold"/>
                <a:ea typeface="Lato Bold"/>
                <a:cs typeface="Lato Bold"/>
                <a:sym typeface="Lato Bold"/>
              </a:rPr>
              <a:t>Câu hỏi nghiên cứu: </a:t>
            </a:r>
            <a:r>
              <a:rPr lang="en-US" sz="2700">
                <a:solidFill>
                  <a:srgbClr val="000000"/>
                </a:solidFill>
                <a:latin typeface="Lato"/>
                <a:ea typeface="Lato"/>
                <a:cs typeface="Lato"/>
                <a:sym typeface="Lato"/>
              </a:rPr>
              <a:t>Làm thế nào để xây dựng một mô hình học máy vừa dự báo chính xác nguy cơ tái nhập viện trong vòng 30 ngày ở bệnh nhân suy tim từ dữ liệu bệnh án điện tử, vừa định lượng và giải thích các đặc trưng đóng góp vào dự đoán nguy cơ đó nhằm hỗ trợ bác sĩ can thiệp điều trị cá thể hóa</a:t>
            </a:r>
          </a:p>
        </p:txBody>
      </p:sp>
      <p:sp>
        <p:nvSpPr>
          <p:cNvPr name="TextBox 7" id="7"/>
          <p:cNvSpPr txBox="true"/>
          <p:nvPr/>
        </p:nvSpPr>
        <p:spPr>
          <a:xfrm rot="0">
            <a:off x="1028700" y="3573399"/>
            <a:ext cx="4005073" cy="5837301"/>
          </a:xfrm>
          <a:prstGeom prst="rect">
            <a:avLst/>
          </a:prstGeom>
        </p:spPr>
        <p:txBody>
          <a:bodyPr anchor="t" rtlCol="false" tIns="0" lIns="0" bIns="0" rIns="0">
            <a:spAutoFit/>
          </a:bodyPr>
          <a:lstStyle/>
          <a:p>
            <a:pPr algn="just">
              <a:lnSpc>
                <a:spcPts val="2592"/>
              </a:lnSpc>
            </a:pPr>
            <a:r>
              <a:rPr lang="en-US" sz="2400" b="true">
                <a:solidFill>
                  <a:srgbClr val="000000"/>
                </a:solidFill>
                <a:latin typeface="Lato Bold"/>
                <a:ea typeface="Lato Bold"/>
                <a:cs typeface="Lato Bold"/>
                <a:sym typeface="Lato Bold"/>
              </a:rPr>
              <a:t>1. Demographics</a:t>
            </a:r>
          </a:p>
          <a:p>
            <a:pPr algn="just" marL="518162" indent="-259081" lvl="1">
              <a:lnSpc>
                <a:spcPts val="2592"/>
              </a:lnSpc>
              <a:buFont typeface="Arial"/>
              <a:buChar char="•"/>
            </a:pPr>
            <a:r>
              <a:rPr lang="en-US" sz="2400">
                <a:solidFill>
                  <a:srgbClr val="000000"/>
                </a:solidFill>
                <a:latin typeface="Lato"/>
                <a:ea typeface="Lato"/>
                <a:cs typeface="Lato"/>
                <a:sym typeface="Lato"/>
              </a:rPr>
              <a:t>Age</a:t>
            </a:r>
          </a:p>
          <a:p>
            <a:pPr algn="just" marL="518162" indent="-259081" lvl="1">
              <a:lnSpc>
                <a:spcPts val="2592"/>
              </a:lnSpc>
              <a:buFont typeface="Arial"/>
              <a:buChar char="•"/>
            </a:pPr>
            <a:r>
              <a:rPr lang="en-US" sz="2400">
                <a:solidFill>
                  <a:srgbClr val="000000"/>
                </a:solidFill>
                <a:latin typeface="Lato"/>
                <a:ea typeface="Lato"/>
                <a:cs typeface="Lato"/>
                <a:sym typeface="Lato"/>
              </a:rPr>
              <a:t>Gender</a:t>
            </a:r>
          </a:p>
          <a:p>
            <a:pPr algn="just" marL="518162" indent="-259081" lvl="1">
              <a:lnSpc>
                <a:spcPts val="2592"/>
              </a:lnSpc>
              <a:buFont typeface="Arial"/>
              <a:buChar char="•"/>
            </a:pPr>
            <a:r>
              <a:rPr lang="en-US" sz="2400">
                <a:solidFill>
                  <a:srgbClr val="000000"/>
                </a:solidFill>
                <a:latin typeface="Lato"/>
                <a:ea typeface="Lato"/>
                <a:cs typeface="Lato"/>
                <a:sym typeface="Lato"/>
              </a:rPr>
              <a:t>Race</a:t>
            </a:r>
          </a:p>
          <a:p>
            <a:pPr algn="just" marL="518162" indent="-259081" lvl="1">
              <a:lnSpc>
                <a:spcPts val="2592"/>
              </a:lnSpc>
              <a:buFont typeface="Arial"/>
              <a:buChar char="•"/>
            </a:pPr>
            <a:r>
              <a:rPr lang="en-US" sz="2400">
                <a:solidFill>
                  <a:srgbClr val="000000"/>
                </a:solidFill>
                <a:latin typeface="Lato"/>
                <a:ea typeface="Lato"/>
                <a:cs typeface="Lato"/>
                <a:sym typeface="Lato"/>
              </a:rPr>
              <a:t>Insurance</a:t>
            </a:r>
          </a:p>
          <a:p>
            <a:pPr algn="just" marL="518162" indent="-259081" lvl="1">
              <a:lnSpc>
                <a:spcPts val="2592"/>
              </a:lnSpc>
              <a:buFont typeface="Arial"/>
              <a:buChar char="•"/>
            </a:pPr>
            <a:r>
              <a:rPr lang="en-US" sz="2400">
                <a:solidFill>
                  <a:srgbClr val="000000"/>
                </a:solidFill>
                <a:latin typeface="Lato"/>
                <a:ea typeface="Lato"/>
                <a:cs typeface="Lato"/>
                <a:sym typeface="Lato"/>
              </a:rPr>
              <a:t>Marital status</a:t>
            </a:r>
          </a:p>
          <a:p>
            <a:pPr algn="just">
              <a:lnSpc>
                <a:spcPts val="2592"/>
              </a:lnSpc>
            </a:pPr>
            <a:r>
              <a:rPr lang="en-US" sz="2400" b="true">
                <a:solidFill>
                  <a:srgbClr val="000000"/>
                </a:solidFill>
                <a:latin typeface="Lato Bold"/>
                <a:ea typeface="Lato Bold"/>
                <a:cs typeface="Lato Bold"/>
                <a:sym typeface="Lato Bold"/>
              </a:rPr>
              <a:t>2. Admission &amp; Utilization</a:t>
            </a:r>
          </a:p>
          <a:p>
            <a:pPr algn="just" marL="518162" indent="-259081" lvl="1">
              <a:lnSpc>
                <a:spcPts val="2592"/>
              </a:lnSpc>
              <a:buFont typeface="Arial"/>
              <a:buChar char="•"/>
            </a:pPr>
            <a:r>
              <a:rPr lang="en-US" sz="2400">
                <a:solidFill>
                  <a:srgbClr val="000000"/>
                </a:solidFill>
                <a:latin typeface="Lato"/>
                <a:ea typeface="Lato"/>
                <a:cs typeface="Lato"/>
                <a:sym typeface="Lato"/>
              </a:rPr>
              <a:t>LOS</a:t>
            </a:r>
          </a:p>
          <a:p>
            <a:pPr algn="just" marL="518162" indent="-259081" lvl="1">
              <a:lnSpc>
                <a:spcPts val="2592"/>
              </a:lnSpc>
              <a:buFont typeface="Arial"/>
              <a:buChar char="•"/>
            </a:pPr>
            <a:r>
              <a:rPr lang="en-US" sz="2400">
                <a:solidFill>
                  <a:srgbClr val="000000"/>
                </a:solidFill>
                <a:latin typeface="Lato"/>
                <a:ea typeface="Lato"/>
                <a:cs typeface="Lato"/>
                <a:sym typeface="Lato"/>
              </a:rPr>
              <a:t>Prior admissions</a:t>
            </a:r>
          </a:p>
          <a:p>
            <a:pPr algn="just" marL="518162" indent="-259081" lvl="1">
              <a:lnSpc>
                <a:spcPts val="2592"/>
              </a:lnSpc>
              <a:buFont typeface="Arial"/>
              <a:buChar char="•"/>
            </a:pPr>
            <a:r>
              <a:rPr lang="en-US" sz="2400">
                <a:solidFill>
                  <a:srgbClr val="000000"/>
                </a:solidFill>
                <a:latin typeface="Lato"/>
                <a:ea typeface="Lato"/>
                <a:cs typeface="Lato"/>
                <a:sym typeface="Lato"/>
              </a:rPr>
              <a:t>Prior HF admissions</a:t>
            </a:r>
          </a:p>
          <a:p>
            <a:pPr algn="just" marL="518162" indent="-259081" lvl="1">
              <a:lnSpc>
                <a:spcPts val="2592"/>
              </a:lnSpc>
              <a:buFont typeface="Arial"/>
              <a:buChar char="•"/>
            </a:pPr>
            <a:r>
              <a:rPr lang="en-US" sz="2400">
                <a:solidFill>
                  <a:srgbClr val="000000"/>
                </a:solidFill>
                <a:latin typeface="Lato"/>
                <a:ea typeface="Lato"/>
                <a:cs typeface="Lato"/>
                <a:sym typeface="Lato"/>
              </a:rPr>
              <a:t>Admission type/location</a:t>
            </a:r>
          </a:p>
          <a:p>
            <a:pPr algn="just" marL="518162" indent="-259081" lvl="1">
              <a:lnSpc>
                <a:spcPts val="2592"/>
              </a:lnSpc>
              <a:buFont typeface="Arial"/>
              <a:buChar char="•"/>
            </a:pPr>
            <a:r>
              <a:rPr lang="en-US" sz="2400">
                <a:solidFill>
                  <a:srgbClr val="000000"/>
                </a:solidFill>
                <a:latin typeface="Lato"/>
                <a:ea typeface="Lato"/>
                <a:cs typeface="Lato"/>
                <a:sym typeface="Lato"/>
              </a:rPr>
              <a:t>Discharge location</a:t>
            </a:r>
          </a:p>
          <a:p>
            <a:pPr algn="just">
              <a:lnSpc>
                <a:spcPts val="2592"/>
              </a:lnSpc>
            </a:pPr>
            <a:r>
              <a:rPr lang="en-US" sz="2400" b="true">
                <a:solidFill>
                  <a:srgbClr val="000000"/>
                </a:solidFill>
                <a:latin typeface="Lato Bold"/>
                <a:ea typeface="Lato Bold"/>
                <a:cs typeface="Lato Bold"/>
                <a:sym typeface="Lato Bold"/>
              </a:rPr>
              <a:t>3. Clinical characteristics</a:t>
            </a:r>
          </a:p>
          <a:p>
            <a:pPr algn="l" marL="518162" indent="-259081" lvl="1">
              <a:lnSpc>
                <a:spcPts val="2592"/>
              </a:lnSpc>
              <a:buFont typeface="Arial"/>
              <a:buChar char="•"/>
            </a:pPr>
            <a:r>
              <a:rPr lang="en-US" sz="2400">
                <a:solidFill>
                  <a:srgbClr val="000000"/>
                </a:solidFill>
                <a:latin typeface="Lato"/>
                <a:ea typeface="Lato"/>
                <a:cs typeface="Lato"/>
                <a:sym typeface="Lato"/>
              </a:rPr>
              <a:t>Diagnoses &amp; comorbidities</a:t>
            </a:r>
          </a:p>
          <a:p>
            <a:pPr algn="just">
              <a:lnSpc>
                <a:spcPts val="2592"/>
              </a:lnSpc>
            </a:pPr>
          </a:p>
          <a:p>
            <a:pPr algn="just">
              <a:lnSpc>
                <a:spcPts val="2592"/>
              </a:lnSpc>
            </a:pPr>
          </a:p>
          <a:p>
            <a:pPr algn="just">
              <a:lnSpc>
                <a:spcPts val="2592"/>
              </a:lnSpc>
            </a:pPr>
          </a:p>
        </p:txBody>
      </p:sp>
      <p:sp>
        <p:nvSpPr>
          <p:cNvPr name="TextBox 8" id="8"/>
          <p:cNvSpPr txBox="true"/>
          <p:nvPr/>
        </p:nvSpPr>
        <p:spPr>
          <a:xfrm rot="0">
            <a:off x="5170492" y="3573399"/>
            <a:ext cx="4461262" cy="5837301"/>
          </a:xfrm>
          <a:prstGeom prst="rect">
            <a:avLst/>
          </a:prstGeom>
        </p:spPr>
        <p:txBody>
          <a:bodyPr anchor="t" rtlCol="false" tIns="0" lIns="0" bIns="0" rIns="0">
            <a:spAutoFit/>
          </a:bodyPr>
          <a:lstStyle/>
          <a:p>
            <a:pPr algn="just" marL="518162" indent="-259081" lvl="1">
              <a:lnSpc>
                <a:spcPts val="2592"/>
              </a:lnSpc>
              <a:buFont typeface="Arial"/>
              <a:buChar char="•"/>
            </a:pPr>
            <a:r>
              <a:rPr lang="en-US" sz="2400">
                <a:solidFill>
                  <a:srgbClr val="000000"/>
                </a:solidFill>
                <a:latin typeface="Lato"/>
                <a:ea typeface="Lato"/>
                <a:cs typeface="Lato"/>
                <a:sym typeface="Lato"/>
              </a:rPr>
              <a:t>Procedures</a:t>
            </a:r>
          </a:p>
          <a:p>
            <a:pPr algn="just" marL="518162" indent="-259081" lvl="1">
              <a:lnSpc>
                <a:spcPts val="2592"/>
              </a:lnSpc>
              <a:buFont typeface="Arial"/>
              <a:buChar char="•"/>
            </a:pPr>
            <a:r>
              <a:rPr lang="en-US" sz="2400">
                <a:solidFill>
                  <a:srgbClr val="000000"/>
                </a:solidFill>
                <a:latin typeface="Lato"/>
                <a:ea typeface="Lato"/>
                <a:cs typeface="Lato"/>
                <a:sym typeface="Lato"/>
              </a:rPr>
              <a:t>Medication groups</a:t>
            </a:r>
          </a:p>
          <a:p>
            <a:pPr algn="just">
              <a:lnSpc>
                <a:spcPts val="2592"/>
              </a:lnSpc>
            </a:pPr>
            <a:r>
              <a:rPr lang="en-US" sz="2400" b="true">
                <a:solidFill>
                  <a:srgbClr val="000000"/>
                </a:solidFill>
                <a:latin typeface="Lato Bold"/>
                <a:ea typeface="Lato Bold"/>
                <a:cs typeface="Lato Bold"/>
                <a:sym typeface="Lato Bold"/>
              </a:rPr>
              <a:t>4.  Laboratory</a:t>
            </a:r>
          </a:p>
          <a:p>
            <a:pPr algn="just" marL="518162" indent="-259081" lvl="1">
              <a:lnSpc>
                <a:spcPts val="2592"/>
              </a:lnSpc>
              <a:buFont typeface="Arial"/>
              <a:buChar char="•"/>
            </a:pPr>
            <a:r>
              <a:rPr lang="en-US" sz="2400">
                <a:solidFill>
                  <a:srgbClr val="000000"/>
                </a:solidFill>
                <a:latin typeface="Lato"/>
                <a:ea typeface="Lato"/>
                <a:cs typeface="Lato"/>
                <a:sym typeface="Lato"/>
              </a:rPr>
              <a:t>Creatinine</a:t>
            </a:r>
          </a:p>
          <a:p>
            <a:pPr algn="just" marL="518162" indent="-259081" lvl="1">
              <a:lnSpc>
                <a:spcPts val="2592"/>
              </a:lnSpc>
              <a:buFont typeface="Arial"/>
              <a:buChar char="•"/>
            </a:pPr>
            <a:r>
              <a:rPr lang="en-US" sz="2400">
                <a:solidFill>
                  <a:srgbClr val="000000"/>
                </a:solidFill>
                <a:latin typeface="Lato"/>
                <a:ea typeface="Lato"/>
                <a:cs typeface="Lato"/>
                <a:sym typeface="Lato"/>
              </a:rPr>
              <a:t>BUN</a:t>
            </a:r>
          </a:p>
          <a:p>
            <a:pPr algn="just" marL="518162" indent="-259081" lvl="1">
              <a:lnSpc>
                <a:spcPts val="2592"/>
              </a:lnSpc>
              <a:buFont typeface="Arial"/>
              <a:buChar char="•"/>
            </a:pPr>
            <a:r>
              <a:rPr lang="en-US" sz="2400">
                <a:solidFill>
                  <a:srgbClr val="000000"/>
                </a:solidFill>
                <a:latin typeface="Lato"/>
                <a:ea typeface="Lato"/>
                <a:cs typeface="Lato"/>
                <a:sym typeface="Lato"/>
              </a:rPr>
              <a:t>Sodium</a:t>
            </a:r>
          </a:p>
          <a:p>
            <a:pPr algn="just" marL="518162" indent="-259081" lvl="1">
              <a:lnSpc>
                <a:spcPts val="2592"/>
              </a:lnSpc>
              <a:buFont typeface="Arial"/>
              <a:buChar char="•"/>
            </a:pPr>
            <a:r>
              <a:rPr lang="en-US" sz="2400">
                <a:solidFill>
                  <a:srgbClr val="000000"/>
                </a:solidFill>
                <a:latin typeface="Lato"/>
                <a:ea typeface="Lato"/>
                <a:cs typeface="Lato"/>
                <a:sym typeface="Lato"/>
              </a:rPr>
              <a:t>Potassium</a:t>
            </a:r>
          </a:p>
          <a:p>
            <a:pPr algn="just" marL="518162" indent="-259081" lvl="1">
              <a:lnSpc>
                <a:spcPts val="2592"/>
              </a:lnSpc>
              <a:buFont typeface="Arial"/>
              <a:buChar char="•"/>
            </a:pPr>
            <a:r>
              <a:rPr lang="en-US" sz="2400">
                <a:solidFill>
                  <a:srgbClr val="000000"/>
                </a:solidFill>
                <a:latin typeface="Lato"/>
                <a:ea typeface="Lato"/>
                <a:cs typeface="Lato"/>
                <a:sym typeface="Lato"/>
              </a:rPr>
              <a:t>Hemoglobin</a:t>
            </a:r>
          </a:p>
          <a:p>
            <a:pPr algn="just" marL="518162" indent="-259081" lvl="1">
              <a:lnSpc>
                <a:spcPts val="2592"/>
              </a:lnSpc>
              <a:buFont typeface="Arial"/>
              <a:buChar char="•"/>
            </a:pPr>
            <a:r>
              <a:rPr lang="en-US" sz="2400">
                <a:solidFill>
                  <a:srgbClr val="000000"/>
                </a:solidFill>
                <a:latin typeface="Lato"/>
                <a:ea typeface="Lato"/>
                <a:cs typeface="Lato"/>
                <a:sym typeface="Lato"/>
              </a:rPr>
              <a:t>Glucose</a:t>
            </a:r>
          </a:p>
          <a:p>
            <a:pPr algn="just" marL="518162" indent="-259081" lvl="1">
              <a:lnSpc>
                <a:spcPts val="2592"/>
              </a:lnSpc>
              <a:buFont typeface="Arial"/>
              <a:buChar char="•"/>
            </a:pPr>
            <a:r>
              <a:rPr lang="en-US" sz="2400">
                <a:solidFill>
                  <a:srgbClr val="000000"/>
                </a:solidFill>
                <a:latin typeface="Lato"/>
                <a:ea typeface="Lato"/>
                <a:cs typeface="Lato"/>
                <a:sym typeface="Lato"/>
              </a:rPr>
              <a:t>Calcium</a:t>
            </a:r>
          </a:p>
          <a:p>
            <a:pPr algn="just" marL="518162" indent="-259081" lvl="1">
              <a:lnSpc>
                <a:spcPts val="2592"/>
              </a:lnSpc>
              <a:buFont typeface="Arial"/>
              <a:buChar char="•"/>
            </a:pPr>
            <a:r>
              <a:rPr lang="en-US" sz="2400">
                <a:solidFill>
                  <a:srgbClr val="000000"/>
                </a:solidFill>
                <a:latin typeface="Lato"/>
                <a:ea typeface="Lato"/>
                <a:cs typeface="Lato"/>
                <a:sym typeface="Lato"/>
              </a:rPr>
              <a:t>các xét nghiệm phù hợp khác</a:t>
            </a:r>
          </a:p>
          <a:p>
            <a:pPr algn="just">
              <a:lnSpc>
                <a:spcPts val="2592"/>
              </a:lnSpc>
            </a:pPr>
            <a:r>
              <a:rPr lang="en-US" sz="2400" b="true">
                <a:solidFill>
                  <a:srgbClr val="000000"/>
                </a:solidFill>
                <a:latin typeface="Lato Bold"/>
                <a:ea typeface="Lato Bold"/>
                <a:cs typeface="Lato Bold"/>
                <a:sym typeface="Lato Bold"/>
              </a:rPr>
              <a:t>5. OMR / Clinical measurements</a:t>
            </a:r>
          </a:p>
          <a:p>
            <a:pPr algn="just" marL="518162" indent="-259081" lvl="1">
              <a:lnSpc>
                <a:spcPts val="2592"/>
              </a:lnSpc>
              <a:buFont typeface="Arial"/>
              <a:buChar char="•"/>
            </a:pPr>
            <a:r>
              <a:rPr lang="en-US" sz="2400">
                <a:solidFill>
                  <a:srgbClr val="000000"/>
                </a:solidFill>
                <a:latin typeface="Lato"/>
                <a:ea typeface="Lato"/>
                <a:cs typeface="Lato"/>
                <a:sym typeface="Lato"/>
              </a:rPr>
              <a:t>BMI</a:t>
            </a:r>
          </a:p>
          <a:p>
            <a:pPr algn="just" marL="518162" indent="-259081" lvl="1">
              <a:lnSpc>
                <a:spcPts val="2592"/>
              </a:lnSpc>
              <a:buFont typeface="Arial"/>
              <a:buChar char="•"/>
            </a:pPr>
            <a:r>
              <a:rPr lang="en-US" sz="2400">
                <a:solidFill>
                  <a:srgbClr val="000000"/>
                </a:solidFill>
                <a:latin typeface="Lato"/>
                <a:ea typeface="Lato"/>
                <a:cs typeface="Lato"/>
                <a:sym typeface="Lato"/>
              </a:rPr>
              <a:t>Weight</a:t>
            </a:r>
          </a:p>
          <a:p>
            <a:pPr algn="just" marL="518162" indent="-259081" lvl="1">
              <a:lnSpc>
                <a:spcPts val="2592"/>
              </a:lnSpc>
              <a:buFont typeface="Arial"/>
              <a:buChar char="•"/>
            </a:pPr>
            <a:r>
              <a:rPr lang="en-US" sz="2400">
                <a:solidFill>
                  <a:srgbClr val="000000"/>
                </a:solidFill>
                <a:latin typeface="Lato"/>
                <a:ea typeface="Lato"/>
                <a:cs typeface="Lato"/>
                <a:sym typeface="Lato"/>
              </a:rPr>
              <a:t>Systolic/Diastolic BP</a:t>
            </a:r>
          </a:p>
          <a:p>
            <a:pPr algn="just" marL="518162" indent="-259081" lvl="1">
              <a:lnSpc>
                <a:spcPts val="2592"/>
              </a:lnSpc>
              <a:buFont typeface="Arial"/>
              <a:buChar char="•"/>
            </a:pPr>
            <a:r>
              <a:rPr lang="en-US" sz="2400">
                <a:solidFill>
                  <a:srgbClr val="000000"/>
                </a:solidFill>
                <a:latin typeface="Lato"/>
                <a:ea typeface="Lato"/>
                <a:cs typeface="Lato"/>
                <a:sym typeface="Lato"/>
              </a:rPr>
              <a:t>eGFR</a:t>
            </a:r>
          </a:p>
          <a:p>
            <a:pPr algn="just">
              <a:lnSpc>
                <a:spcPts val="2592"/>
              </a:lnSpc>
            </a:pPr>
          </a:p>
          <a:p>
            <a:pPr algn="just">
              <a:lnSpc>
                <a:spcPts val="2592"/>
              </a:lnSpc>
            </a:pPr>
          </a:p>
        </p:txBody>
      </p:sp>
      <p:sp>
        <p:nvSpPr>
          <p:cNvPr name="TextBox 9" id="9"/>
          <p:cNvSpPr txBox="true"/>
          <p:nvPr/>
        </p:nvSpPr>
        <p:spPr>
          <a:xfrm rot="0">
            <a:off x="1028700" y="8782050"/>
            <a:ext cx="8603054" cy="723900"/>
          </a:xfrm>
          <a:prstGeom prst="rect">
            <a:avLst/>
          </a:prstGeom>
        </p:spPr>
        <p:txBody>
          <a:bodyPr anchor="t" rtlCol="false" tIns="0" lIns="0" bIns="0" rIns="0">
            <a:spAutoFit/>
          </a:bodyPr>
          <a:lstStyle/>
          <a:p>
            <a:pPr algn="just">
              <a:lnSpc>
                <a:spcPts val="2879"/>
              </a:lnSpc>
              <a:spcBef>
                <a:spcPct val="0"/>
              </a:spcBef>
            </a:pPr>
            <a:r>
              <a:rPr lang="en-US" b="true" sz="2400">
                <a:solidFill>
                  <a:srgbClr val="000000"/>
                </a:solidFill>
                <a:latin typeface="Lato Bold"/>
                <a:ea typeface="Lato Bold"/>
                <a:cs typeface="Lato Bold"/>
                <a:sym typeface="Lato Bold"/>
              </a:rPr>
              <a:t> → </a:t>
            </a:r>
            <a:r>
              <a:rPr lang="en-US" b="true" sz="2400">
                <a:solidFill>
                  <a:srgbClr val="000000"/>
                </a:solidFill>
                <a:latin typeface="Lato Bold"/>
                <a:ea typeface="Lato Bold"/>
                <a:cs typeface="Lato Bold"/>
                <a:sym typeface="Lato Bold"/>
              </a:rPr>
              <a:t>Final pre-model dataset: </a:t>
            </a:r>
            <a:r>
              <a:rPr lang="en-US" sz="2400">
                <a:solidFill>
                  <a:srgbClr val="000000"/>
                </a:solidFill>
                <a:latin typeface="Lato"/>
                <a:ea typeface="Lato"/>
                <a:cs typeface="Lato"/>
                <a:sym typeface="Lato"/>
              </a:rPr>
              <a:t>46 predictors trước One-Hot Encoding.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1028700" y="1626296"/>
          <a:ext cx="16230600" cy="4926530"/>
        </p:xfrm>
        <a:graphic>
          <a:graphicData uri="http://schemas.openxmlformats.org/drawingml/2006/table">
            <a:tbl>
              <a:tblPr/>
              <a:tblGrid>
                <a:gridCol w="8115300"/>
                <a:gridCol w="8115300"/>
              </a:tblGrid>
              <a:tr h="1036718">
                <a:tc>
                  <a:txBody>
                    <a:bodyPr anchor="t" rtlCol="false"/>
                    <a:lstStyle/>
                    <a:p>
                      <a:pPr algn="ctr">
                        <a:lnSpc>
                          <a:spcPts val="4199"/>
                        </a:lnSpc>
                        <a:defRPr/>
                      </a:pPr>
                      <a:r>
                        <a:rPr lang="en-US" sz="2999" b="true">
                          <a:solidFill>
                            <a:srgbClr val="000000"/>
                          </a:solidFill>
                          <a:latin typeface="Lato Bold"/>
                          <a:ea typeface="Lato Bold"/>
                          <a:cs typeface="Lato Bold"/>
                          <a:sym typeface="Lato Bold"/>
                        </a:rPr>
                        <a:t>Kịch bản Âm tính giả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Lato Bold"/>
                          <a:ea typeface="Lato Bold"/>
                          <a:cs typeface="Lato Bold"/>
                          <a:sym typeface="Lato Bold"/>
                        </a:rPr>
                        <a:t> Kịch bản Dương tính giả</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889813">
                <a:tc>
                  <a:txBody>
                    <a:bodyPr anchor="t" rtlCol="false"/>
                    <a:lstStyle/>
                    <a:p>
                      <a:pPr algn="just" marL="582927" indent="-291463" lvl="1">
                        <a:lnSpc>
                          <a:spcPts val="3779"/>
                        </a:lnSpc>
                        <a:buFont typeface="Arial"/>
                        <a:buChar char="•"/>
                        <a:defRPr/>
                      </a:pPr>
                      <a:r>
                        <a:rPr lang="en-US" sz="2699">
                          <a:solidFill>
                            <a:srgbClr val="000000"/>
                          </a:solidFill>
                          <a:latin typeface="Lato"/>
                          <a:ea typeface="Lato"/>
                          <a:cs typeface="Lato"/>
                          <a:sym typeface="Lato"/>
                        </a:rPr>
                        <a:t>Dự báo: Bệnh nhân có nguy cơ thấp → không được ưu tiên theo dõi tăng cường.</a:t>
                      </a:r>
                      <a:endParaRPr lang="en-US" sz="1100"/>
                    </a:p>
                    <a:p>
                      <a:pPr algn="just" marL="582927" indent="-291463" lvl="1">
                        <a:lnSpc>
                          <a:spcPts val="3779"/>
                        </a:lnSpc>
                        <a:buFont typeface="Arial"/>
                        <a:buChar char="•"/>
                      </a:pPr>
                      <a:r>
                        <a:rPr lang="en-US" sz="2699">
                          <a:solidFill>
                            <a:srgbClr val="000000"/>
                          </a:solidFill>
                          <a:latin typeface="Lato"/>
                          <a:ea typeface="Lato"/>
                          <a:cs typeface="Lato"/>
                          <a:sym typeface="Lato"/>
                        </a:rPr>
                        <a:t>Thực tế: Bệnh nhân tái nhập viện trong vòng 30 ngày.</a:t>
                      </a:r>
                    </a:p>
                    <a:p>
                      <a:pPr algn="just" marL="582927" indent="-291463" lvl="1">
                        <a:lnSpc>
                          <a:spcPts val="3779"/>
                        </a:lnSpc>
                        <a:buFont typeface="Arial"/>
                        <a:buChar char="•"/>
                      </a:pPr>
                      <a:r>
                        <a:rPr lang="en-US" sz="2699">
                          <a:solidFill>
                            <a:srgbClr val="000000"/>
                          </a:solidFill>
                          <a:latin typeface="Lato"/>
                          <a:ea typeface="Lato"/>
                          <a:cs typeface="Lato"/>
                          <a:sym typeface="Lato"/>
                        </a:rPr>
                        <a:t>Hệ quả: Có thể bỏ sót bệnh nhân nguy cơ cao, làm chậm theo dõi và can thiệp sau xuất viện</a:t>
                      </a:r>
                    </a:p>
                    <a:p>
                      <a:pPr algn="just">
                        <a:lnSpc>
                          <a:spcPts val="377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marL="582928" indent="-291464" lvl="1">
                        <a:lnSpc>
                          <a:spcPts val="3779"/>
                        </a:lnSpc>
                        <a:buFont typeface="Arial"/>
                        <a:buChar char="•"/>
                        <a:defRPr/>
                      </a:pPr>
                      <a:r>
                        <a:rPr lang="en-US" sz="2699">
                          <a:solidFill>
                            <a:srgbClr val="000000"/>
                          </a:solidFill>
                          <a:latin typeface="Lato"/>
                          <a:ea typeface="Lato"/>
                          <a:cs typeface="Lato"/>
                          <a:sym typeface="Lato"/>
                        </a:rPr>
                        <a:t>Dự báo: Bệnh nhân có nguy cơ tái nhập viện cao → được tăng cường theo dõi.</a:t>
                      </a:r>
                      <a:endParaRPr lang="en-US" sz="1100"/>
                    </a:p>
                    <a:p>
                      <a:pPr algn="just" marL="582928" indent="-291464" lvl="1">
                        <a:lnSpc>
                          <a:spcPts val="3779"/>
                        </a:lnSpc>
                        <a:buFont typeface="Arial"/>
                        <a:buChar char="•"/>
                      </a:pPr>
                      <a:r>
                        <a:rPr lang="en-US" sz="2699">
                          <a:solidFill>
                            <a:srgbClr val="000000"/>
                          </a:solidFill>
                          <a:latin typeface="Lato"/>
                          <a:ea typeface="Lato"/>
                          <a:cs typeface="Lato"/>
                          <a:sym typeface="Lato"/>
                        </a:rPr>
                        <a:t>Thực tế: Bệnh nhân không tái nhập viện trong vòng 30 ngày.</a:t>
                      </a:r>
                    </a:p>
                    <a:p>
                      <a:pPr algn="just" marL="582928" indent="-291464" lvl="1">
                        <a:lnSpc>
                          <a:spcPts val="3779"/>
                        </a:lnSpc>
                        <a:buFont typeface="Arial"/>
                        <a:buChar char="•"/>
                      </a:pPr>
                      <a:r>
                        <a:rPr lang="en-US" sz="2699">
                          <a:solidFill>
                            <a:srgbClr val="000000"/>
                          </a:solidFill>
                          <a:latin typeface="Lato"/>
                          <a:ea typeface="Lato"/>
                          <a:cs typeface="Lato"/>
                          <a:sym typeface="Lato"/>
                        </a:rPr>
                        <a:t>Hệ quả: Tăng số lần theo dõi/tái khám không cần thiết, làm tăng chi phí và sử dụng nguồn lực y tế.</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6</a:t>
            </a:r>
          </a:p>
        </p:txBody>
      </p:sp>
      <p:sp>
        <p:nvSpPr>
          <p:cNvPr name="TextBox 5" id="5"/>
          <p:cNvSpPr txBox="true"/>
          <p:nvPr/>
        </p:nvSpPr>
        <p:spPr>
          <a:xfrm rot="0">
            <a:off x="228094" y="230556"/>
            <a:ext cx="13864494"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Phân tích chi phí sai số bất đối xứng</a:t>
            </a:r>
          </a:p>
        </p:txBody>
      </p:sp>
      <p:sp>
        <p:nvSpPr>
          <p:cNvPr name="TextBox 6" id="6"/>
          <p:cNvSpPr txBox="true"/>
          <p:nvPr/>
        </p:nvSpPr>
        <p:spPr>
          <a:xfrm rot="0">
            <a:off x="2637081" y="6958457"/>
            <a:ext cx="14622219" cy="1166623"/>
          </a:xfrm>
          <a:prstGeom prst="rect">
            <a:avLst/>
          </a:prstGeom>
        </p:spPr>
        <p:txBody>
          <a:bodyPr anchor="t" rtlCol="false" tIns="0" lIns="0" bIns="0" rIns="0">
            <a:spAutoFit/>
          </a:bodyPr>
          <a:lstStyle/>
          <a:p>
            <a:pPr algn="just">
              <a:lnSpc>
                <a:spcPts val="3024"/>
              </a:lnSpc>
              <a:spcBef>
                <a:spcPct val="0"/>
              </a:spcBef>
            </a:pPr>
            <a:r>
              <a:rPr lang="en-US" sz="2800">
                <a:solidFill>
                  <a:srgbClr val="000000"/>
                </a:solidFill>
                <a:latin typeface="Lato"/>
                <a:ea typeface="Lato"/>
                <a:cs typeface="Lato"/>
                <a:sym typeface="Lato"/>
              </a:rPr>
              <a:t>C</a:t>
            </a:r>
            <a:r>
              <a:rPr lang="en-US" sz="2800">
                <a:solidFill>
                  <a:srgbClr val="000000"/>
                </a:solidFill>
                <a:latin typeface="Lato"/>
                <a:ea typeface="Lato"/>
                <a:cs typeface="Lato"/>
                <a:sym typeface="Lato"/>
              </a:rPr>
              <a:t>hi phí của âm tính giả lớn hơn dương tính giả vì bỏ sót bệnh nhân có nguy cơ tái nhập viện. Do đó, mô hình cần ưu tiên khả năng phát hiện ca nguy cơ cao (Recall/Sensitivity), đồng thời kiểm soát số lượng cảnh báo giả.</a:t>
            </a:r>
          </a:p>
        </p:txBody>
      </p:sp>
      <p:sp>
        <p:nvSpPr>
          <p:cNvPr name="Freeform 7" id="7"/>
          <p:cNvSpPr/>
          <p:nvPr/>
        </p:nvSpPr>
        <p:spPr>
          <a:xfrm flipH="false" flipV="false" rot="0">
            <a:off x="1028700" y="6939407"/>
            <a:ext cx="1380645" cy="386581"/>
          </a:xfrm>
          <a:custGeom>
            <a:avLst/>
            <a:gdLst/>
            <a:ahLst/>
            <a:cxnLst/>
            <a:rect r="r" b="b" t="t" l="l"/>
            <a:pathLst>
              <a:path h="386581" w="1380645">
                <a:moveTo>
                  <a:pt x="0" y="0"/>
                </a:moveTo>
                <a:lnTo>
                  <a:pt x="1380645" y="0"/>
                </a:lnTo>
                <a:lnTo>
                  <a:pt x="1380645" y="386581"/>
                </a:lnTo>
                <a:lnTo>
                  <a:pt x="0" y="3865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6</a:t>
            </a:r>
          </a:p>
        </p:txBody>
      </p:sp>
      <p:sp>
        <p:nvSpPr>
          <p:cNvPr name="TextBox 4" id="4"/>
          <p:cNvSpPr txBox="true"/>
          <p:nvPr/>
        </p:nvSpPr>
        <p:spPr>
          <a:xfrm rot="0">
            <a:off x="228094" y="230556"/>
            <a:ext cx="13864494"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Chiến lược khảo sát y văn</a:t>
            </a:r>
          </a:p>
        </p:txBody>
      </p:sp>
      <p:sp>
        <p:nvSpPr>
          <p:cNvPr name="TextBox 5" id="5"/>
          <p:cNvSpPr txBox="true"/>
          <p:nvPr/>
        </p:nvSpPr>
        <p:spPr>
          <a:xfrm rot="0">
            <a:off x="228094" y="1882821"/>
            <a:ext cx="15591010" cy="1952625"/>
          </a:xfrm>
          <a:prstGeom prst="rect">
            <a:avLst/>
          </a:prstGeom>
        </p:spPr>
        <p:txBody>
          <a:bodyPr anchor="t" rtlCol="false" tIns="0" lIns="0" bIns="0" rIns="0">
            <a:spAutoFit/>
          </a:bodyPr>
          <a:lstStyle/>
          <a:p>
            <a:pPr algn="l" marL="690877" indent="-345439" lvl="1">
              <a:lnSpc>
                <a:spcPts val="3839"/>
              </a:lnSpc>
              <a:spcBef>
                <a:spcPct val="0"/>
              </a:spcBef>
              <a:buFont typeface="Arial"/>
              <a:buChar char="•"/>
            </a:pPr>
            <a:r>
              <a:rPr lang="en-US" sz="3199">
                <a:solidFill>
                  <a:srgbClr val="000000"/>
                </a:solidFill>
                <a:latin typeface="Lato"/>
                <a:ea typeface="Lato"/>
                <a:cs typeface="Lato"/>
                <a:sym typeface="Lato"/>
              </a:rPr>
              <a:t>Nguồn dữ liệu: PubMed, IEEE Xplore, Google Scholar.</a:t>
            </a:r>
          </a:p>
          <a:p>
            <a:pPr algn="l" marL="690877" indent="-345439" lvl="1">
              <a:lnSpc>
                <a:spcPts val="3839"/>
              </a:lnSpc>
              <a:spcBef>
                <a:spcPct val="0"/>
              </a:spcBef>
              <a:buFont typeface="Arial"/>
              <a:buChar char="•"/>
            </a:pPr>
            <a:r>
              <a:rPr lang="en-US" sz="3199">
                <a:solidFill>
                  <a:srgbClr val="000000"/>
                </a:solidFill>
                <a:latin typeface="Lato"/>
                <a:ea typeface="Lato"/>
                <a:cs typeface="Lato"/>
                <a:sym typeface="Lato"/>
              </a:rPr>
              <a:t>Từ khóa tìm kiếm (Keywords): ("Heart failure" OR "HF"), ("Readmission" OR "30-day"), ("Machine learning" OR "XGBoost"), ("Electronic Health Records" OR "EHR"), ("Explainable AI" OR "SHAP")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328505" y="1604127"/>
            <a:ext cx="17630989" cy="7078746"/>
          </a:xfrm>
          <a:custGeom>
            <a:avLst/>
            <a:gdLst/>
            <a:ahLst/>
            <a:cxnLst/>
            <a:rect r="r" b="b" t="t" l="l"/>
            <a:pathLst>
              <a:path h="7078746" w="17630989">
                <a:moveTo>
                  <a:pt x="0" y="0"/>
                </a:moveTo>
                <a:lnTo>
                  <a:pt x="17630990" y="0"/>
                </a:lnTo>
                <a:lnTo>
                  <a:pt x="17630990" y="7078746"/>
                </a:lnTo>
                <a:lnTo>
                  <a:pt x="0" y="7078746"/>
                </a:lnTo>
                <a:lnTo>
                  <a:pt x="0" y="0"/>
                </a:lnTo>
                <a:close/>
              </a:path>
            </a:pathLst>
          </a:custGeom>
          <a:blipFill>
            <a:blip r:embed="rId4"/>
            <a:stretch>
              <a:fillRect l="0" t="0" r="0" b="0"/>
            </a:stretch>
          </a:blipFill>
        </p:spPr>
      </p:sp>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6</a:t>
            </a:r>
          </a:p>
        </p:txBody>
      </p:sp>
      <p:sp>
        <p:nvSpPr>
          <p:cNvPr name="TextBox 5" id="5"/>
          <p:cNvSpPr txBox="true"/>
          <p:nvPr/>
        </p:nvSpPr>
        <p:spPr>
          <a:xfrm rot="0">
            <a:off x="228094" y="230556"/>
            <a:ext cx="13864494"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Tổng quan y văn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4" id="4"/>
          <p:cNvSpPr txBox="true"/>
          <p:nvPr/>
        </p:nvSpPr>
        <p:spPr>
          <a:xfrm rot="0">
            <a:off x="-847625" y="174832"/>
            <a:ext cx="11545525" cy="666750"/>
          </a:xfrm>
          <a:prstGeom prst="rect">
            <a:avLst/>
          </a:prstGeom>
        </p:spPr>
        <p:txBody>
          <a:bodyPr anchor="t" rtlCol="false" tIns="0" lIns="0" bIns="0" rIns="0">
            <a:spAutoFit/>
          </a:bodyPr>
          <a:lstStyle/>
          <a:p>
            <a:pPr algn="ctr">
              <a:lnSpc>
                <a:spcPts val="5280"/>
              </a:lnSpc>
              <a:spcBef>
                <a:spcPct val="0"/>
              </a:spcBef>
            </a:pPr>
            <a:r>
              <a:rPr lang="en-US" b="true" sz="4400">
                <a:solidFill>
                  <a:srgbClr val="FFFFFF"/>
                </a:solidFill>
                <a:latin typeface="Lato Bold"/>
                <a:ea typeface="Lato Bold"/>
                <a:cs typeface="Lato Bold"/>
                <a:sym typeface="Lato Bold"/>
              </a:rPr>
              <a:t> Khoảng trống nghiên cứu &amp; Đóng góp</a:t>
            </a:r>
          </a:p>
        </p:txBody>
      </p:sp>
      <p:sp>
        <p:nvSpPr>
          <p:cNvPr name="AutoShape 5" id="5"/>
          <p:cNvSpPr/>
          <p:nvPr/>
        </p:nvSpPr>
        <p:spPr>
          <a:xfrm flipH="true">
            <a:off x="9144000" y="1887848"/>
            <a:ext cx="19050" cy="7532727"/>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9525" y="2447925"/>
            <a:ext cx="8964121" cy="5038725"/>
          </a:xfrm>
          <a:prstGeom prst="rect">
            <a:avLst/>
          </a:prstGeom>
        </p:spPr>
        <p:txBody>
          <a:bodyPr anchor="t" rtlCol="false" tIns="0" lIns="0" bIns="0" rIns="0">
            <a:spAutoFit/>
          </a:bodyPr>
          <a:lstStyle/>
          <a:p>
            <a:pPr algn="just" marL="604519" indent="-302260" lvl="1">
              <a:lnSpc>
                <a:spcPts val="3359"/>
              </a:lnSpc>
              <a:spcBef>
                <a:spcPct val="0"/>
              </a:spcBef>
              <a:buFont typeface="Arial"/>
              <a:buChar char="•"/>
            </a:pPr>
            <a:r>
              <a:rPr lang="en-US" b="true" sz="2799">
                <a:solidFill>
                  <a:srgbClr val="000000"/>
                </a:solidFill>
                <a:latin typeface="Lato Bold"/>
                <a:ea typeface="Lato Bold"/>
                <a:cs typeface="Lato Bold"/>
                <a:sym typeface="Lato Bold"/>
              </a:rPr>
              <a:t>Nguy cơ</a:t>
            </a:r>
            <a:r>
              <a:rPr lang="en-US" b="true" sz="2799">
                <a:solidFill>
                  <a:srgbClr val="000000"/>
                </a:solidFill>
                <a:latin typeface="Lato Bold"/>
                <a:ea typeface="Lato Bold"/>
                <a:cs typeface="Lato Bold"/>
                <a:sym typeface="Lato Bold"/>
              </a:rPr>
              <a:t> rò rỉ dữ liệu và đánh giá quá lạc quan:</a:t>
            </a:r>
            <a:r>
              <a:rPr lang="en-US" sz="2799">
                <a:solidFill>
                  <a:srgbClr val="000000"/>
                </a:solidFill>
                <a:latin typeface="Lato"/>
                <a:ea typeface="Lato"/>
                <a:cs typeface="Lato"/>
                <a:sym typeface="Lato"/>
              </a:rPr>
              <a:t> Một bệnh nhân có thể có nhiều lần nhập viện; nếu chia dữ liệu theo từng admission, cùng một bệnh nhân có thể xuất hiện ở cả train và test.</a:t>
            </a:r>
          </a:p>
          <a:p>
            <a:pPr algn="just" marL="604519" indent="-302260" lvl="1">
              <a:lnSpc>
                <a:spcPts val="3359"/>
              </a:lnSpc>
              <a:spcBef>
                <a:spcPct val="0"/>
              </a:spcBef>
              <a:buFont typeface="Arial"/>
              <a:buChar char="•"/>
            </a:pPr>
            <a:r>
              <a:rPr lang="en-US" b="true" sz="2799">
                <a:solidFill>
                  <a:srgbClr val="000000"/>
                </a:solidFill>
                <a:latin typeface="Lato Bold"/>
                <a:ea typeface="Lato Bold"/>
                <a:cs typeface="Lato Bold"/>
                <a:sym typeface="Lato Bold"/>
              </a:rPr>
              <a:t>Khả năng giải thích còn hạn chế:</a:t>
            </a:r>
            <a:r>
              <a:rPr lang="en-US" sz="2799">
                <a:solidFill>
                  <a:srgbClr val="000000"/>
                </a:solidFill>
                <a:latin typeface="Lato"/>
                <a:ea typeface="Lato"/>
                <a:cs typeface="Lato"/>
                <a:sym typeface="Lato"/>
              </a:rPr>
              <a:t> Feature importance toàn cục chưa cho biết tại sao mô hình đưa ra cảnh báo cho một bệnh nhân cụ thể.</a:t>
            </a:r>
          </a:p>
          <a:p>
            <a:pPr algn="just" marL="604519" indent="-302260" lvl="1">
              <a:lnSpc>
                <a:spcPts val="3359"/>
              </a:lnSpc>
              <a:spcBef>
                <a:spcPct val="0"/>
              </a:spcBef>
              <a:buFont typeface="Arial"/>
              <a:buChar char="•"/>
            </a:pPr>
            <a:r>
              <a:rPr lang="en-US" b="true" sz="2799">
                <a:solidFill>
                  <a:srgbClr val="000000"/>
                </a:solidFill>
                <a:latin typeface="Lato Bold"/>
                <a:ea typeface="Lato Bold"/>
                <a:cs typeface="Lato Bold"/>
                <a:sym typeface="Lato Bold"/>
              </a:rPr>
              <a:t>Chi phí sai số không đối xứng: </a:t>
            </a:r>
            <a:r>
              <a:rPr lang="en-US" sz="2799">
                <a:solidFill>
                  <a:srgbClr val="000000"/>
                </a:solidFill>
                <a:latin typeface="Lato"/>
                <a:ea typeface="Lato"/>
                <a:cs typeface="Lato"/>
                <a:sym typeface="Lato"/>
              </a:rPr>
              <a:t>Bỏ sót bệnh nhân nguy cơ cao (False Negative) có hậu quả lớn hơn việc cảnh báo nhầm, nên Accuracy đơn thuần chưa đủ để đánh giá mô hình.</a:t>
            </a:r>
          </a:p>
          <a:p>
            <a:pPr algn="just">
              <a:lnSpc>
                <a:spcPts val="3359"/>
              </a:lnSpc>
              <a:spcBef>
                <a:spcPct val="0"/>
              </a:spcBef>
            </a:pPr>
          </a:p>
        </p:txBody>
      </p:sp>
      <p:sp>
        <p:nvSpPr>
          <p:cNvPr name="TextBox 7" id="7"/>
          <p:cNvSpPr txBox="true"/>
          <p:nvPr/>
        </p:nvSpPr>
        <p:spPr>
          <a:xfrm rot="0">
            <a:off x="1223278" y="1147782"/>
            <a:ext cx="6517565" cy="542925"/>
          </a:xfrm>
          <a:prstGeom prst="rect">
            <a:avLst/>
          </a:prstGeom>
        </p:spPr>
        <p:txBody>
          <a:bodyPr anchor="t" rtlCol="false" tIns="0" lIns="0" bIns="0" rIns="0">
            <a:spAutoFit/>
          </a:bodyPr>
          <a:lstStyle/>
          <a:p>
            <a:pPr algn="ctr">
              <a:lnSpc>
                <a:spcPts val="4200"/>
              </a:lnSpc>
              <a:spcBef>
                <a:spcPct val="0"/>
              </a:spcBef>
            </a:pPr>
            <a:r>
              <a:rPr lang="en-US" b="true" sz="3500">
                <a:solidFill>
                  <a:srgbClr val="000000"/>
                </a:solidFill>
                <a:latin typeface="Lato Bold"/>
                <a:ea typeface="Lato Bold"/>
                <a:cs typeface="Lato Bold"/>
                <a:sym typeface="Lato Bold"/>
              </a:rPr>
              <a:t>Khoảng trống</a:t>
            </a:r>
          </a:p>
        </p:txBody>
      </p:sp>
      <p:sp>
        <p:nvSpPr>
          <p:cNvPr name="TextBox 8" id="8"/>
          <p:cNvSpPr txBox="true"/>
          <p:nvPr/>
        </p:nvSpPr>
        <p:spPr>
          <a:xfrm rot="0">
            <a:off x="10567422" y="1147782"/>
            <a:ext cx="6517565" cy="542925"/>
          </a:xfrm>
          <a:prstGeom prst="rect">
            <a:avLst/>
          </a:prstGeom>
        </p:spPr>
        <p:txBody>
          <a:bodyPr anchor="t" rtlCol="false" tIns="0" lIns="0" bIns="0" rIns="0">
            <a:spAutoFit/>
          </a:bodyPr>
          <a:lstStyle/>
          <a:p>
            <a:pPr algn="ctr">
              <a:lnSpc>
                <a:spcPts val="4200"/>
              </a:lnSpc>
              <a:spcBef>
                <a:spcPct val="0"/>
              </a:spcBef>
            </a:pPr>
            <a:r>
              <a:rPr lang="en-US" b="true" sz="3500">
                <a:solidFill>
                  <a:srgbClr val="000000"/>
                </a:solidFill>
                <a:latin typeface="Lato Bold"/>
                <a:ea typeface="Lato Bold"/>
                <a:cs typeface="Lato Bold"/>
                <a:sym typeface="Lato Bold"/>
              </a:rPr>
              <a:t>Đóng góp</a:t>
            </a:r>
          </a:p>
        </p:txBody>
      </p:sp>
      <p:sp>
        <p:nvSpPr>
          <p:cNvPr name="TextBox 9" id="9"/>
          <p:cNvSpPr txBox="true"/>
          <p:nvPr/>
        </p:nvSpPr>
        <p:spPr>
          <a:xfrm rot="0">
            <a:off x="9144000" y="2447925"/>
            <a:ext cx="8938969" cy="6296025"/>
          </a:xfrm>
          <a:prstGeom prst="rect">
            <a:avLst/>
          </a:prstGeom>
        </p:spPr>
        <p:txBody>
          <a:bodyPr anchor="t" rtlCol="false" tIns="0" lIns="0" bIns="0" rIns="0">
            <a:spAutoFit/>
          </a:bodyPr>
          <a:lstStyle/>
          <a:p>
            <a:pPr algn="just" marL="604519" indent="-302260" lvl="1">
              <a:lnSpc>
                <a:spcPts val="3359"/>
              </a:lnSpc>
              <a:spcBef>
                <a:spcPct val="0"/>
              </a:spcBef>
              <a:buFont typeface="Arial"/>
              <a:buChar char="•"/>
            </a:pPr>
            <a:r>
              <a:rPr lang="en-US" b="true" sz="2799">
                <a:solidFill>
                  <a:srgbClr val="000000"/>
                </a:solidFill>
                <a:latin typeface="Lato Bold"/>
                <a:ea typeface="Lato Bold"/>
                <a:cs typeface="Lato Bold"/>
                <a:sym typeface="Lato Bold"/>
              </a:rPr>
              <a:t>Đán</a:t>
            </a:r>
            <a:r>
              <a:rPr lang="en-US" b="true" sz="2799">
                <a:solidFill>
                  <a:srgbClr val="000000"/>
                </a:solidFill>
                <a:latin typeface="Lato Bold"/>
                <a:ea typeface="Lato Bold"/>
                <a:cs typeface="Lato Bold"/>
                <a:sym typeface="Lato Bold"/>
              </a:rPr>
              <a:t>h giá theo mức bệnh nhân: </a:t>
            </a:r>
            <a:r>
              <a:rPr lang="en-US" sz="2799">
                <a:solidFill>
                  <a:srgbClr val="000000"/>
                </a:solidFill>
                <a:latin typeface="Lato"/>
                <a:ea typeface="Lato"/>
                <a:cs typeface="Lato"/>
                <a:sym typeface="Lato"/>
              </a:rPr>
              <a:t>Sử dụng Patient-level split / Stratified Group K-Fold để tất cả admission của cùng một bệnh nhân nằm trong cùng một fold, hạn chế data leakage.</a:t>
            </a:r>
          </a:p>
          <a:p>
            <a:pPr algn="just" marL="604519" indent="-302260" lvl="1">
              <a:lnSpc>
                <a:spcPts val="3359"/>
              </a:lnSpc>
              <a:spcBef>
                <a:spcPct val="0"/>
              </a:spcBef>
              <a:buFont typeface="Arial"/>
              <a:buChar char="•"/>
            </a:pPr>
            <a:r>
              <a:rPr lang="en-US" b="true" sz="2799">
                <a:solidFill>
                  <a:srgbClr val="000000"/>
                </a:solidFill>
                <a:latin typeface="Lato Bold"/>
                <a:ea typeface="Lato Bold"/>
                <a:cs typeface="Lato Bold"/>
                <a:sym typeface="Lato Bold"/>
              </a:rPr>
              <a:t>So sánh mô hình cơ sở và mô hình boosting:</a:t>
            </a:r>
            <a:r>
              <a:rPr lang="en-US" sz="2799">
                <a:solidFill>
                  <a:srgbClr val="000000"/>
                </a:solidFill>
                <a:latin typeface="Lato"/>
                <a:ea typeface="Lato"/>
                <a:cs typeface="Lato"/>
                <a:sym typeface="Lato"/>
              </a:rPr>
              <a:t> Sử dụng Logistic Regression làm baseline; tiếp tục đánh giá XGBoost/LightGBM để cải thiện khả năng dự báo</a:t>
            </a:r>
          </a:p>
          <a:p>
            <a:pPr algn="just" marL="604519" indent="-302260" lvl="1">
              <a:lnSpc>
                <a:spcPts val="3359"/>
              </a:lnSpc>
              <a:spcBef>
                <a:spcPct val="0"/>
              </a:spcBef>
              <a:buFont typeface="Arial"/>
              <a:buChar char="•"/>
            </a:pPr>
            <a:r>
              <a:rPr lang="en-US" b="true" sz="2799">
                <a:solidFill>
                  <a:srgbClr val="000000"/>
                </a:solidFill>
                <a:latin typeface="Lato Bold"/>
                <a:ea typeface="Lato Bold"/>
                <a:cs typeface="Lato Bold"/>
                <a:sym typeface="Lato Bold"/>
              </a:rPr>
              <a:t>Explainable AI ở cả mức toàn cục và cá thể:</a:t>
            </a:r>
            <a:r>
              <a:rPr lang="en-US" sz="2799">
                <a:solidFill>
                  <a:srgbClr val="000000"/>
                </a:solidFill>
                <a:latin typeface="Lato"/>
                <a:ea typeface="Lato"/>
                <a:cs typeface="Lato"/>
                <a:sym typeface="Lato"/>
              </a:rPr>
              <a:t> Sử dụng SHAP/TreeSHAP để xác định đặc trưng quan trọng và giải thích dự đoán của từng bệnh nhân.</a:t>
            </a:r>
          </a:p>
          <a:p>
            <a:pPr algn="just" marL="604519" indent="-302260" lvl="1">
              <a:lnSpc>
                <a:spcPts val="3359"/>
              </a:lnSpc>
              <a:spcBef>
                <a:spcPct val="0"/>
              </a:spcBef>
              <a:buFont typeface="Arial"/>
              <a:buChar char="•"/>
            </a:pPr>
            <a:r>
              <a:rPr lang="en-US" b="true" sz="2799">
                <a:solidFill>
                  <a:srgbClr val="000000"/>
                </a:solidFill>
                <a:latin typeface="Lato Bold"/>
                <a:ea typeface="Lato Bold"/>
                <a:cs typeface="Lato Bold"/>
                <a:sym typeface="Lato Bold"/>
              </a:rPr>
              <a:t>T</a:t>
            </a:r>
            <a:r>
              <a:rPr lang="en-US" b="true" sz="2799">
                <a:solidFill>
                  <a:srgbClr val="000000"/>
                </a:solidFill>
                <a:latin typeface="Lato Bold"/>
                <a:ea typeface="Lato Bold"/>
                <a:cs typeface="Lato Bold"/>
                <a:sym typeface="Lato Bold"/>
              </a:rPr>
              <a:t>ối ưu theo mục tiêu lâm sàng:</a:t>
            </a:r>
            <a:r>
              <a:rPr lang="en-US" sz="2799">
                <a:solidFill>
                  <a:srgbClr val="000000"/>
                </a:solidFill>
                <a:latin typeface="Lato"/>
                <a:ea typeface="Lato"/>
                <a:cs typeface="Lato"/>
                <a:sym typeface="Lato"/>
              </a:rPr>
              <a:t> Ưu tiên Recall/Sensitivity, AUPRC và AUROC, đồng thời điều chỉnh ngưỡng dự đoán để giảm nguy cơ bỏ sót bệnh nhân.</a:t>
            </a:r>
          </a:p>
          <a:p>
            <a:pPr algn="just">
              <a:lnSpc>
                <a:spcPts val="335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2881878" y="3748924"/>
            <a:ext cx="12524245" cy="5299826"/>
          </a:xfrm>
          <a:custGeom>
            <a:avLst/>
            <a:gdLst/>
            <a:ahLst/>
            <a:cxnLst/>
            <a:rect r="r" b="b" t="t" l="l"/>
            <a:pathLst>
              <a:path h="5299826" w="12524245">
                <a:moveTo>
                  <a:pt x="0" y="0"/>
                </a:moveTo>
                <a:lnTo>
                  <a:pt x="12524244" y="0"/>
                </a:lnTo>
                <a:lnTo>
                  <a:pt x="12524244" y="5299826"/>
                </a:lnTo>
                <a:lnTo>
                  <a:pt x="0" y="5299826"/>
                </a:lnTo>
                <a:lnTo>
                  <a:pt x="0" y="0"/>
                </a:lnTo>
                <a:close/>
              </a:path>
            </a:pathLst>
          </a:custGeom>
          <a:blipFill>
            <a:blip r:embed="rId4"/>
            <a:stretch>
              <a:fillRect l="0" t="0" r="0" b="-24803"/>
            </a:stretch>
          </a:blipFill>
        </p:spPr>
      </p:sp>
      <p:sp>
        <p:nvSpPr>
          <p:cNvPr name="TextBox 4" id="4"/>
          <p:cNvSpPr txBox="true"/>
          <p:nvPr/>
        </p:nvSpPr>
        <p:spPr>
          <a:xfrm rot="0">
            <a:off x="228094" y="1434349"/>
            <a:ext cx="17430020" cy="2524125"/>
          </a:xfrm>
          <a:prstGeom prst="rect">
            <a:avLst/>
          </a:prstGeom>
        </p:spPr>
        <p:txBody>
          <a:bodyPr anchor="t" rtlCol="false" tIns="0" lIns="0" bIns="0" rIns="0">
            <a:spAutoFit/>
          </a:bodyPr>
          <a:lstStyle/>
          <a:p>
            <a:pPr algn="just">
              <a:lnSpc>
                <a:spcPts val="3360"/>
              </a:lnSpc>
            </a:pPr>
            <a:r>
              <a:rPr lang="en-US" sz="2800" b="true">
                <a:solidFill>
                  <a:srgbClr val="000000"/>
                </a:solidFill>
                <a:latin typeface="Lato Bold"/>
                <a:ea typeface="Lato Bold"/>
                <a:cs typeface="Lato Bold"/>
                <a:sym typeface="Lato Bold"/>
              </a:rPr>
              <a:t>Dataset chính – MIMIC-IV Clinical Database v3.1</a:t>
            </a:r>
          </a:p>
          <a:p>
            <a:pPr algn="just" marL="604521" indent="-302261" lvl="1">
              <a:lnSpc>
                <a:spcPts val="3360"/>
              </a:lnSpc>
              <a:buFont typeface="Arial"/>
              <a:buChar char="•"/>
            </a:pPr>
            <a:r>
              <a:rPr lang="en-US" sz="2800">
                <a:solidFill>
                  <a:srgbClr val="000000"/>
                </a:solidFill>
                <a:latin typeface="Lato"/>
                <a:ea typeface="Lato"/>
                <a:cs typeface="Lato"/>
                <a:sym typeface="Lato"/>
              </a:rPr>
              <a:t>Quyền truy cập PhysioNet đã được phê duyệt.</a:t>
            </a:r>
          </a:p>
          <a:p>
            <a:pPr algn="just" marL="604521" indent="-302261" lvl="1">
              <a:lnSpc>
                <a:spcPts val="3360"/>
              </a:lnSpc>
              <a:buFont typeface="Arial"/>
              <a:buChar char="•"/>
            </a:pPr>
            <a:r>
              <a:rPr lang="en-US" sz="2800">
                <a:solidFill>
                  <a:srgbClr val="000000"/>
                </a:solidFill>
                <a:latin typeface="Lato"/>
                <a:ea typeface="Lato"/>
                <a:cs typeface="Lato"/>
                <a:sym typeface="Lato"/>
              </a:rPr>
              <a:t>Dữ liệu đầy đủ đã được tải và xử lý từ module hosp.</a:t>
            </a:r>
          </a:p>
          <a:p>
            <a:pPr algn="just" marL="604521" indent="-302261" lvl="1">
              <a:lnSpc>
                <a:spcPts val="3360"/>
              </a:lnSpc>
              <a:buFont typeface="Arial"/>
              <a:buChar char="•"/>
            </a:pPr>
            <a:r>
              <a:rPr lang="en-US" sz="2800">
                <a:solidFill>
                  <a:srgbClr val="000000"/>
                </a:solidFill>
                <a:latin typeface="Lato"/>
                <a:ea typeface="Lato"/>
                <a:cs typeface="Lato"/>
                <a:sym typeface="Lato"/>
              </a:rPr>
              <a:t>Đã hoàn thành xây dựng cohort suy tim, tạo nhãn tái nhập viện 30 ngày và xây dựng đặc trưng.</a:t>
            </a:r>
          </a:p>
          <a:p>
            <a:pPr algn="just" marL="604521" indent="-302261" lvl="1">
              <a:lnSpc>
                <a:spcPts val="3360"/>
              </a:lnSpc>
              <a:buFont typeface="Arial"/>
              <a:buChar char="•"/>
            </a:pPr>
            <a:r>
              <a:rPr lang="en-US" sz="2800">
                <a:solidFill>
                  <a:srgbClr val="000000"/>
                </a:solidFill>
                <a:latin typeface="Lato"/>
                <a:ea typeface="Lato"/>
                <a:cs typeface="Lato"/>
                <a:sym typeface="Lato"/>
              </a:rPr>
              <a:t>Dataset cuối sẵn sàng cho giai đoạn huấn luyện mô hình.</a:t>
            </a:r>
          </a:p>
          <a:p>
            <a:pPr algn="just">
              <a:lnSpc>
                <a:spcPts val="3360"/>
              </a:lnSpc>
              <a:spcBef>
                <a:spcPct val="0"/>
              </a:spcBef>
            </a:pPr>
          </a:p>
        </p:txBody>
      </p:sp>
      <p:sp>
        <p:nvSpPr>
          <p:cNvPr name="TextBox 5" id="5"/>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6</a:t>
            </a:r>
          </a:p>
        </p:txBody>
      </p:sp>
      <p:sp>
        <p:nvSpPr>
          <p:cNvPr name="TextBox 6" id="6"/>
          <p:cNvSpPr txBox="true"/>
          <p:nvPr/>
        </p:nvSpPr>
        <p:spPr>
          <a:xfrm rot="0">
            <a:off x="228094" y="230556"/>
            <a:ext cx="13864494"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Dataset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aphicFrame>
        <p:nvGraphicFramePr>
          <p:cNvPr name="Table 3" id="3"/>
          <p:cNvGraphicFramePr>
            <a:graphicFrameLocks noGrp="true"/>
          </p:cNvGraphicFramePr>
          <p:nvPr/>
        </p:nvGraphicFramePr>
        <p:xfrm>
          <a:off x="351232" y="1870633"/>
          <a:ext cx="6079215" cy="7696200"/>
        </p:xfrm>
        <a:graphic>
          <a:graphicData uri="http://schemas.openxmlformats.org/drawingml/2006/table">
            <a:tbl>
              <a:tblPr/>
              <a:tblGrid>
                <a:gridCol w="3039608"/>
                <a:gridCol w="3039608"/>
              </a:tblGrid>
              <a:tr h="909377">
                <a:tc>
                  <a:txBody>
                    <a:bodyPr anchor="t" rtlCol="false"/>
                    <a:lstStyle/>
                    <a:p>
                      <a:pPr algn="ctr">
                        <a:lnSpc>
                          <a:spcPts val="3359"/>
                        </a:lnSpc>
                        <a:defRPr/>
                      </a:pPr>
                      <a:r>
                        <a:rPr lang="en-US" sz="2399" b="true">
                          <a:solidFill>
                            <a:srgbClr val="000000"/>
                          </a:solidFill>
                          <a:latin typeface="Lato Bold"/>
                          <a:ea typeface="Lato Bold"/>
                          <a:cs typeface="Lato Bold"/>
                          <a:sym typeface="Lato Bold"/>
                        </a:rPr>
                        <a:t>Thông tin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b="true">
                          <a:solidFill>
                            <a:srgbClr val="000000"/>
                          </a:solidFill>
                          <a:latin typeface="Lato Bold"/>
                          <a:ea typeface="Lato Bold"/>
                          <a:cs typeface="Lato Bold"/>
                          <a:sym typeface="Lato Bold"/>
                        </a:rPr>
                        <a:t>K</a:t>
                      </a:r>
                      <a:r>
                        <a:rPr lang="en-US" sz="2399" b="true">
                          <a:solidFill>
                            <a:srgbClr val="000000"/>
                          </a:solidFill>
                          <a:latin typeface="Lato Bold"/>
                          <a:ea typeface="Lato Bold"/>
                          <a:cs typeface="Lato Bold"/>
                          <a:sym typeface="Lato Bold"/>
                        </a:rPr>
                        <a:t>ết quả</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9377">
                <a:tc>
                  <a:txBody>
                    <a:bodyPr anchor="t" rtlCol="false"/>
                    <a:lstStyle/>
                    <a:p>
                      <a:pPr algn="ctr">
                        <a:lnSpc>
                          <a:spcPts val="3359"/>
                        </a:lnSpc>
                        <a:defRPr/>
                      </a:pPr>
                      <a:r>
                        <a:rPr lang="en-US" sz="2399">
                          <a:solidFill>
                            <a:srgbClr val="000000"/>
                          </a:solidFill>
                          <a:latin typeface="Lato"/>
                          <a:ea typeface="Lato"/>
                          <a:cs typeface="Lato"/>
                          <a:sym typeface="Lato"/>
                        </a:rPr>
                        <a:t>HF patients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Lato"/>
                          <a:ea typeface="Lato"/>
                          <a:cs typeface="Lato"/>
                          <a:sym typeface="Lato"/>
                        </a:rPr>
                        <a:t>28</a:t>
                      </a:r>
                      <a:r>
                        <a:rPr lang="en-US" sz="2399">
                          <a:solidFill>
                            <a:srgbClr val="000000"/>
                          </a:solidFill>
                          <a:latin typeface="Lato"/>
                          <a:ea typeface="Lato"/>
                          <a:cs typeface="Lato"/>
                          <a:sym typeface="Lato"/>
                        </a:rPr>
                        <a:t>.376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9377">
                <a:tc>
                  <a:txBody>
                    <a:bodyPr anchor="t" rtlCol="false"/>
                    <a:lstStyle/>
                    <a:p>
                      <a:pPr algn="ctr">
                        <a:lnSpc>
                          <a:spcPts val="3359"/>
                        </a:lnSpc>
                        <a:defRPr/>
                      </a:pPr>
                      <a:r>
                        <a:rPr lang="en-US" sz="2399">
                          <a:solidFill>
                            <a:srgbClr val="000000"/>
                          </a:solidFill>
                          <a:latin typeface="Lato"/>
                          <a:ea typeface="Lato"/>
                          <a:cs typeface="Lato"/>
                          <a:sym typeface="Lato"/>
                        </a:rPr>
                        <a:t>HF admissions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Lato"/>
                          <a:ea typeface="Lato"/>
                          <a:cs typeface="Lato"/>
                          <a:sym typeface="Lato"/>
                        </a:rPr>
                        <a:t>70.066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30562">
                <a:tc>
                  <a:txBody>
                    <a:bodyPr anchor="t" rtlCol="false"/>
                    <a:lstStyle/>
                    <a:p>
                      <a:pPr algn="ctr">
                        <a:lnSpc>
                          <a:spcPts val="3359"/>
                        </a:lnSpc>
                        <a:defRPr/>
                      </a:pPr>
                      <a:r>
                        <a:rPr lang="en-US" sz="2399">
                          <a:solidFill>
                            <a:srgbClr val="000000"/>
                          </a:solidFill>
                          <a:latin typeface="Lato"/>
                          <a:ea typeface="Lato"/>
                          <a:cs typeface="Lato"/>
                          <a:sym typeface="Lato"/>
                        </a:rPr>
                        <a:t>Readmission ≤30 ngày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Lato"/>
                          <a:ea typeface="Lato"/>
                          <a:cs typeface="Lato"/>
                          <a:sym typeface="Lato"/>
                        </a:rPr>
                        <a:t>1</a:t>
                      </a:r>
                      <a:r>
                        <a:rPr lang="en-US" sz="2399">
                          <a:solidFill>
                            <a:srgbClr val="000000"/>
                          </a:solidFill>
                          <a:latin typeface="Lato"/>
                          <a:ea typeface="Lato"/>
                          <a:cs typeface="Lato"/>
                          <a:sym typeface="Lato"/>
                        </a:rPr>
                        <a:t>7.522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9377">
                <a:tc>
                  <a:txBody>
                    <a:bodyPr anchor="t" rtlCol="false"/>
                    <a:lstStyle/>
                    <a:p>
                      <a:pPr algn="ctr">
                        <a:lnSpc>
                          <a:spcPts val="3359"/>
                        </a:lnSpc>
                        <a:defRPr/>
                      </a:pPr>
                      <a:r>
                        <a:rPr lang="en-US" sz="2399">
                          <a:solidFill>
                            <a:srgbClr val="000000"/>
                          </a:solidFill>
                          <a:latin typeface="Lato"/>
                          <a:ea typeface="Lato"/>
                          <a:cs typeface="Lato"/>
                          <a:sym typeface="Lato"/>
                        </a:rPr>
                        <a:t>Non-readmission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Lato"/>
                          <a:ea typeface="Lato"/>
                          <a:cs typeface="Lato"/>
                          <a:sym typeface="Lato"/>
                        </a:rPr>
                        <a:t>5</a:t>
                      </a:r>
                      <a:r>
                        <a:rPr lang="en-US" sz="2399">
                          <a:solidFill>
                            <a:srgbClr val="000000"/>
                          </a:solidFill>
                          <a:latin typeface="Lato"/>
                          <a:ea typeface="Lato"/>
                          <a:cs typeface="Lato"/>
                          <a:sym typeface="Lato"/>
                        </a:rPr>
                        <a:t>2.544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9377">
                <a:tc>
                  <a:txBody>
                    <a:bodyPr anchor="t" rtlCol="false"/>
                    <a:lstStyle/>
                    <a:p>
                      <a:pPr algn="ctr">
                        <a:lnSpc>
                          <a:spcPts val="3359"/>
                        </a:lnSpc>
                        <a:defRPr/>
                      </a:pPr>
                      <a:r>
                        <a:rPr lang="en-US" sz="2399">
                          <a:solidFill>
                            <a:srgbClr val="000000"/>
                          </a:solidFill>
                          <a:latin typeface="Lato"/>
                          <a:ea typeface="Lato"/>
                          <a:cs typeface="Lato"/>
                          <a:sym typeface="Lato"/>
                        </a:rPr>
                        <a:t>Readmission rate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Lato"/>
                          <a:ea typeface="Lato"/>
                          <a:cs typeface="Lato"/>
                          <a:sym typeface="Lato"/>
                        </a:rPr>
                        <a:t>25.01%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9377">
                <a:tc>
                  <a:txBody>
                    <a:bodyPr anchor="t" rtlCol="false"/>
                    <a:lstStyle/>
                    <a:p>
                      <a:pPr algn="ctr">
                        <a:lnSpc>
                          <a:spcPts val="3359"/>
                        </a:lnSpc>
                        <a:defRPr/>
                      </a:pPr>
                      <a:r>
                        <a:rPr lang="en-US" sz="2399">
                          <a:solidFill>
                            <a:srgbClr val="000000"/>
                          </a:solidFill>
                          <a:latin typeface="Lato"/>
                          <a:ea typeface="Lato"/>
                          <a:cs typeface="Lato"/>
                          <a:sym typeface="Lato"/>
                        </a:rPr>
                        <a:t>Tuổi trung vị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Lato"/>
                          <a:ea typeface="Lato"/>
                          <a:cs typeface="Lato"/>
                          <a:sym typeface="Lato"/>
                        </a:rPr>
                        <a:t>75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9377">
                <a:tc>
                  <a:txBody>
                    <a:bodyPr anchor="t" rtlCol="false"/>
                    <a:lstStyle/>
                    <a:p>
                      <a:pPr algn="ctr">
                        <a:lnSpc>
                          <a:spcPts val="3359"/>
                        </a:lnSpc>
                        <a:defRPr/>
                      </a:pPr>
                      <a:r>
                        <a:rPr lang="en-US" sz="2399">
                          <a:solidFill>
                            <a:srgbClr val="000000"/>
                          </a:solidFill>
                          <a:latin typeface="Lato"/>
                          <a:ea typeface="Lato"/>
                          <a:cs typeface="Lato"/>
                          <a:sym typeface="Lato"/>
                        </a:rPr>
                        <a:t>Male / Female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Lato"/>
                          <a:ea typeface="Lato"/>
                          <a:cs typeface="Lato"/>
                          <a:sym typeface="Lato"/>
                        </a:rPr>
                        <a:t>53.2% / 46.8%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697610" y="1870633"/>
            <a:ext cx="8843986" cy="5695608"/>
          </a:xfrm>
          <a:custGeom>
            <a:avLst/>
            <a:gdLst/>
            <a:ahLst/>
            <a:cxnLst/>
            <a:rect r="r" b="b" t="t" l="l"/>
            <a:pathLst>
              <a:path h="5695608" w="8843986">
                <a:moveTo>
                  <a:pt x="0" y="0"/>
                </a:moveTo>
                <a:lnTo>
                  <a:pt x="8843986" y="0"/>
                </a:lnTo>
                <a:lnTo>
                  <a:pt x="8843986" y="5695608"/>
                </a:lnTo>
                <a:lnTo>
                  <a:pt x="0" y="5695608"/>
                </a:lnTo>
                <a:lnTo>
                  <a:pt x="0" y="0"/>
                </a:lnTo>
                <a:close/>
              </a:path>
            </a:pathLst>
          </a:custGeom>
          <a:blipFill>
            <a:blip r:embed="rId4"/>
            <a:stretch>
              <a:fillRect l="0" t="0" r="0" b="0"/>
            </a:stretch>
          </a:blipFill>
        </p:spPr>
      </p:sp>
      <p:sp>
        <p:nvSpPr>
          <p:cNvPr name="TextBox 5" id="5"/>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6" id="6"/>
          <p:cNvSpPr txBox="true"/>
          <p:nvPr/>
        </p:nvSpPr>
        <p:spPr>
          <a:xfrm rot="0">
            <a:off x="-4565619" y="213361"/>
            <a:ext cx="11545525" cy="666750"/>
          </a:xfrm>
          <a:prstGeom prst="rect">
            <a:avLst/>
          </a:prstGeom>
        </p:spPr>
        <p:txBody>
          <a:bodyPr anchor="t" rtlCol="false" tIns="0" lIns="0" bIns="0" rIns="0">
            <a:spAutoFit/>
          </a:bodyPr>
          <a:lstStyle/>
          <a:p>
            <a:pPr algn="ctr">
              <a:lnSpc>
                <a:spcPts val="5280"/>
              </a:lnSpc>
              <a:spcBef>
                <a:spcPct val="0"/>
              </a:spcBef>
            </a:pPr>
            <a:r>
              <a:rPr lang="en-US" b="true" sz="4400">
                <a:solidFill>
                  <a:srgbClr val="FFFFFF"/>
                </a:solidFill>
                <a:latin typeface="Lato Bold"/>
                <a:ea typeface="Lato Bold"/>
                <a:cs typeface="Lato Bold"/>
                <a:sym typeface="Lato Bold"/>
              </a:rPr>
              <a:t>E</a:t>
            </a:r>
            <a:r>
              <a:rPr lang="en-US" b="true" sz="4400">
                <a:solidFill>
                  <a:srgbClr val="FFFFFF"/>
                </a:solidFill>
                <a:latin typeface="Lato Bold"/>
                <a:ea typeface="Lato Bold"/>
                <a:cs typeface="Lato Bold"/>
                <a:sym typeface="Lato Bold"/>
              </a:rPr>
              <a:t>DA</a:t>
            </a:r>
          </a:p>
        </p:txBody>
      </p:sp>
      <p:sp>
        <p:nvSpPr>
          <p:cNvPr name="TextBox 7" id="7"/>
          <p:cNvSpPr txBox="true"/>
          <p:nvPr/>
        </p:nvSpPr>
        <p:spPr>
          <a:xfrm rot="0">
            <a:off x="351232" y="1191815"/>
            <a:ext cx="10634804" cy="438150"/>
          </a:xfrm>
          <a:prstGeom prst="rect">
            <a:avLst/>
          </a:prstGeom>
        </p:spPr>
        <p:txBody>
          <a:bodyPr anchor="t" rtlCol="false" tIns="0" lIns="0" bIns="0" rIns="0">
            <a:spAutoFit/>
          </a:bodyPr>
          <a:lstStyle/>
          <a:p>
            <a:pPr algn="just">
              <a:lnSpc>
                <a:spcPts val="3479"/>
              </a:lnSpc>
              <a:spcBef>
                <a:spcPct val="0"/>
              </a:spcBef>
            </a:pPr>
            <a:r>
              <a:rPr lang="en-US" b="true" sz="2899">
                <a:solidFill>
                  <a:srgbClr val="000000"/>
                </a:solidFill>
                <a:latin typeface="Lato Bold"/>
                <a:ea typeface="Lato Bold"/>
                <a:cs typeface="Lato Bold"/>
                <a:sym typeface="Lato Bold"/>
              </a:rPr>
              <a:t>Tổng quan cohort &amp; phân bố dữ liệu</a:t>
            </a:r>
          </a:p>
        </p:txBody>
      </p:sp>
      <p:sp>
        <p:nvSpPr>
          <p:cNvPr name="TextBox 8" id="8"/>
          <p:cNvSpPr txBox="true"/>
          <p:nvPr/>
        </p:nvSpPr>
        <p:spPr>
          <a:xfrm rot="0">
            <a:off x="6979906" y="7594816"/>
            <a:ext cx="10279394" cy="1266825"/>
          </a:xfrm>
          <a:prstGeom prst="rect">
            <a:avLst/>
          </a:prstGeom>
        </p:spPr>
        <p:txBody>
          <a:bodyPr anchor="t" rtlCol="false" tIns="0" lIns="0" bIns="0" rIns="0">
            <a:spAutoFit/>
          </a:bodyPr>
          <a:lstStyle/>
          <a:p>
            <a:pPr algn="l">
              <a:lnSpc>
                <a:spcPts val="3359"/>
              </a:lnSpc>
              <a:spcBef>
                <a:spcPct val="0"/>
              </a:spcBef>
            </a:pPr>
            <a:r>
              <a:rPr lang="en-US" b="true" sz="2799">
                <a:solidFill>
                  <a:srgbClr val="000000"/>
                </a:solidFill>
                <a:latin typeface="Lato Bold"/>
                <a:ea typeface="Lato Bold"/>
                <a:cs typeface="Lato Bold"/>
                <a:sym typeface="Lato Bold"/>
              </a:rPr>
              <a:t>Pa</a:t>
            </a:r>
            <a:r>
              <a:rPr lang="en-US" b="true" sz="2799">
                <a:solidFill>
                  <a:srgbClr val="000000"/>
                </a:solidFill>
                <a:latin typeface="Lato Bold"/>
                <a:ea typeface="Lato Bold"/>
                <a:cs typeface="Lato Bold"/>
                <a:sym typeface="Lato Bold"/>
              </a:rPr>
              <a:t>tient-level imbalance:</a:t>
            </a:r>
          </a:p>
          <a:p>
            <a:pPr algn="l" marL="604515" indent="-302257" lvl="1">
              <a:lnSpc>
                <a:spcPts val="3359"/>
              </a:lnSpc>
              <a:spcBef>
                <a:spcPct val="0"/>
              </a:spcBef>
              <a:buFont typeface="Arial"/>
              <a:buChar char="•"/>
            </a:pPr>
            <a:r>
              <a:rPr lang="en-US" sz="2799">
                <a:solidFill>
                  <a:srgbClr val="000000"/>
                </a:solidFill>
                <a:latin typeface="Lato"/>
                <a:ea typeface="Lato"/>
                <a:cs typeface="Lato"/>
                <a:sym typeface="Lato"/>
              </a:rPr>
              <a:t>Có ít nhất một readmission: 8,622 bệnh nhân</a:t>
            </a:r>
          </a:p>
          <a:p>
            <a:pPr algn="l" marL="604515" indent="-302257" lvl="1">
              <a:lnSpc>
                <a:spcPts val="3359"/>
              </a:lnSpc>
              <a:spcBef>
                <a:spcPct val="0"/>
              </a:spcBef>
              <a:buFont typeface="Arial"/>
              <a:buChar char="•"/>
            </a:pPr>
            <a:r>
              <a:rPr lang="en-US" sz="2799">
                <a:solidFill>
                  <a:srgbClr val="000000"/>
                </a:solidFill>
                <a:latin typeface="Lato"/>
                <a:ea typeface="Lato"/>
                <a:cs typeface="Lato"/>
                <a:sym typeface="Lato"/>
              </a:rPr>
              <a:t>Không có readmission: 19,754 bệnh nhân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351232" y="1944290"/>
          <a:ext cx="7680742" cy="7276643"/>
        </p:xfrm>
        <a:graphic>
          <a:graphicData uri="http://schemas.openxmlformats.org/drawingml/2006/table">
            <a:tbl>
              <a:tblPr/>
              <a:tblGrid>
                <a:gridCol w="2599792"/>
                <a:gridCol w="2459283"/>
                <a:gridCol w="2621667"/>
              </a:tblGrid>
              <a:tr h="861762">
                <a:tc>
                  <a:txBody>
                    <a:bodyPr anchor="t" rtlCol="false"/>
                    <a:lstStyle/>
                    <a:p>
                      <a:pPr algn="ctr">
                        <a:lnSpc>
                          <a:spcPts val="2939"/>
                        </a:lnSpc>
                        <a:defRPr/>
                      </a:pPr>
                      <a:r>
                        <a:rPr lang="en-US" sz="2099" b="true">
                          <a:solidFill>
                            <a:srgbClr val="000000"/>
                          </a:solidFill>
                          <a:latin typeface="Lato Bold"/>
                          <a:ea typeface="Lato Bold"/>
                          <a:cs typeface="Lato Bold"/>
                          <a:sym typeface="Lato Bold"/>
                        </a:rPr>
                        <a:t>Feature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Lato Bold"/>
                          <a:ea typeface="Lato Bold"/>
                          <a:cs typeface="Lato Bold"/>
                          <a:sym typeface="Lato Bold"/>
                        </a:rPr>
                        <a:t>No Readmission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Lato Bold"/>
                          <a:ea typeface="Lato Bold"/>
                          <a:cs typeface="Lato Bold"/>
                          <a:sym typeface="Lato Bold"/>
                        </a:rPr>
                        <a:t>Readmission ≤30d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1762">
                <a:tc>
                  <a:txBody>
                    <a:bodyPr anchor="t" rtlCol="false"/>
                    <a:lstStyle/>
                    <a:p>
                      <a:pPr algn="ctr">
                        <a:lnSpc>
                          <a:spcPts val="2939"/>
                        </a:lnSpc>
                        <a:defRPr/>
                      </a:pPr>
                      <a:r>
                        <a:rPr lang="en-US" sz="2099">
                          <a:solidFill>
                            <a:srgbClr val="000000"/>
                          </a:solidFill>
                          <a:latin typeface="Lato"/>
                          <a:ea typeface="Lato"/>
                          <a:cs typeface="Lato"/>
                          <a:sym typeface="Lato"/>
                        </a:rPr>
                        <a:t>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75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7</a:t>
                      </a:r>
                      <a:r>
                        <a:rPr lang="en-US" sz="2099">
                          <a:solidFill>
                            <a:srgbClr val="000000"/>
                          </a:solidFill>
                          <a:latin typeface="Lato"/>
                          <a:ea typeface="Lato"/>
                          <a:cs typeface="Lato"/>
                          <a:sym typeface="Lato"/>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1762">
                <a:tc>
                  <a:txBody>
                    <a:bodyPr anchor="t" rtlCol="false"/>
                    <a:lstStyle/>
                    <a:p>
                      <a:pPr algn="ctr">
                        <a:lnSpc>
                          <a:spcPts val="2939"/>
                        </a:lnSpc>
                        <a:defRPr/>
                      </a:pPr>
                      <a:r>
                        <a:rPr lang="en-US" sz="2099">
                          <a:solidFill>
                            <a:srgbClr val="000000"/>
                          </a:solidFill>
                          <a:latin typeface="Lato"/>
                          <a:ea typeface="Lato"/>
                          <a:cs typeface="Lato"/>
                          <a:sym typeface="Lato"/>
                        </a:rPr>
                        <a:t>LOS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4.95 ngày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5.48 ngày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1762">
                <a:tc>
                  <a:txBody>
                    <a:bodyPr anchor="t" rtlCol="false"/>
                    <a:lstStyle/>
                    <a:p>
                      <a:pPr algn="ctr">
                        <a:lnSpc>
                          <a:spcPts val="2939"/>
                        </a:lnSpc>
                        <a:defRPr/>
                      </a:pPr>
                      <a:r>
                        <a:rPr lang="en-US" sz="2099">
                          <a:solidFill>
                            <a:srgbClr val="000000"/>
                          </a:solidFill>
                          <a:latin typeface="Lato"/>
                          <a:ea typeface="Lato"/>
                          <a:cs typeface="Lato"/>
                          <a:sym typeface="Lato"/>
                        </a:rPr>
                        <a:t>Prior admissions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44308">
                <a:tc>
                  <a:txBody>
                    <a:bodyPr anchor="t" rtlCol="false"/>
                    <a:lstStyle/>
                    <a:p>
                      <a:pPr algn="ctr">
                        <a:lnSpc>
                          <a:spcPts val="2939"/>
                        </a:lnSpc>
                        <a:defRPr/>
                      </a:pPr>
                      <a:r>
                        <a:rPr lang="en-US" sz="2099">
                          <a:solidFill>
                            <a:srgbClr val="000000"/>
                          </a:solidFill>
                          <a:latin typeface="Lato"/>
                          <a:ea typeface="Lato"/>
                          <a:cs typeface="Lato"/>
                          <a:sym typeface="Lato"/>
                        </a:rPr>
                        <a:t>Prior HF admissions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1762">
                <a:tc>
                  <a:txBody>
                    <a:bodyPr anchor="t" rtlCol="false"/>
                    <a:lstStyle/>
                    <a:p>
                      <a:pPr algn="ctr">
                        <a:lnSpc>
                          <a:spcPts val="2939"/>
                        </a:lnSpc>
                        <a:defRPr/>
                      </a:pPr>
                      <a:r>
                        <a:rPr lang="en-US" sz="2099">
                          <a:solidFill>
                            <a:srgbClr val="000000"/>
                          </a:solidFill>
                          <a:latin typeface="Lato"/>
                          <a:ea typeface="Lato"/>
                          <a:cs typeface="Lato"/>
                          <a:sym typeface="Lato"/>
                        </a:rPr>
                        <a:t>Diagnoses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18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19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1762">
                <a:tc>
                  <a:txBody>
                    <a:bodyPr anchor="t" rtlCol="false"/>
                    <a:lstStyle/>
                    <a:p>
                      <a:pPr algn="ctr">
                        <a:lnSpc>
                          <a:spcPts val="2939"/>
                        </a:lnSpc>
                        <a:defRPr/>
                      </a:pPr>
                      <a:r>
                        <a:rPr lang="en-US" sz="2099">
                          <a:solidFill>
                            <a:srgbClr val="000000"/>
                          </a:solidFill>
                          <a:latin typeface="Lato"/>
                          <a:ea typeface="Lato"/>
                          <a:cs typeface="Lato"/>
                          <a:sym typeface="Lato"/>
                        </a:rPr>
                        <a:t>Creatinine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1762">
                <a:tc>
                  <a:txBody>
                    <a:bodyPr anchor="t" rtlCol="false"/>
                    <a:lstStyle/>
                    <a:p>
                      <a:pPr algn="ctr">
                        <a:lnSpc>
                          <a:spcPts val="2939"/>
                        </a:lnSpc>
                        <a:defRPr/>
                      </a:pPr>
                      <a:r>
                        <a:rPr lang="en-US" sz="2099">
                          <a:solidFill>
                            <a:srgbClr val="000000"/>
                          </a:solidFill>
                          <a:latin typeface="Lato"/>
                          <a:ea typeface="Lato"/>
                          <a:cs typeface="Lato"/>
                          <a:sym typeface="Lato"/>
                        </a:rPr>
                        <a:t>Hemoglobin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10.3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Lato"/>
                          <a:ea typeface="Lato"/>
                          <a:cs typeface="Lato"/>
                          <a:sym typeface="Lato"/>
                        </a:rPr>
                        <a:t>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8611599" y="1944290"/>
            <a:ext cx="8018423" cy="5173176"/>
          </a:xfrm>
          <a:custGeom>
            <a:avLst/>
            <a:gdLst/>
            <a:ahLst/>
            <a:cxnLst/>
            <a:rect r="r" b="b" t="t" l="l"/>
            <a:pathLst>
              <a:path h="5173176" w="8018423">
                <a:moveTo>
                  <a:pt x="0" y="0"/>
                </a:moveTo>
                <a:lnTo>
                  <a:pt x="8018423" y="0"/>
                </a:lnTo>
                <a:lnTo>
                  <a:pt x="8018423" y="5173176"/>
                </a:lnTo>
                <a:lnTo>
                  <a:pt x="0" y="5173176"/>
                </a:lnTo>
                <a:lnTo>
                  <a:pt x="0" y="0"/>
                </a:lnTo>
                <a:close/>
              </a:path>
            </a:pathLst>
          </a:custGeom>
          <a:blipFill>
            <a:blip r:embed="rId3"/>
            <a:stretch>
              <a:fillRect l="0" t="0" r="0" b="0"/>
            </a:stretch>
          </a:blipFill>
        </p:spPr>
      </p:sp>
      <p:sp>
        <p:nvSpPr>
          <p:cNvPr name="TextBox 5" id="5"/>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6" id="6"/>
          <p:cNvSpPr txBox="true"/>
          <p:nvPr/>
        </p:nvSpPr>
        <p:spPr>
          <a:xfrm rot="0">
            <a:off x="-4565619" y="213361"/>
            <a:ext cx="11545525" cy="666750"/>
          </a:xfrm>
          <a:prstGeom prst="rect">
            <a:avLst/>
          </a:prstGeom>
        </p:spPr>
        <p:txBody>
          <a:bodyPr anchor="t" rtlCol="false" tIns="0" lIns="0" bIns="0" rIns="0">
            <a:spAutoFit/>
          </a:bodyPr>
          <a:lstStyle/>
          <a:p>
            <a:pPr algn="ctr">
              <a:lnSpc>
                <a:spcPts val="5280"/>
              </a:lnSpc>
              <a:spcBef>
                <a:spcPct val="0"/>
              </a:spcBef>
            </a:pPr>
            <a:r>
              <a:rPr lang="en-US" b="true" sz="4400">
                <a:solidFill>
                  <a:srgbClr val="FFFFFF"/>
                </a:solidFill>
                <a:latin typeface="Lato Bold"/>
                <a:ea typeface="Lato Bold"/>
                <a:cs typeface="Lato Bold"/>
                <a:sym typeface="Lato Bold"/>
              </a:rPr>
              <a:t>E</a:t>
            </a:r>
            <a:r>
              <a:rPr lang="en-US" b="true" sz="4400">
                <a:solidFill>
                  <a:srgbClr val="FFFFFF"/>
                </a:solidFill>
                <a:latin typeface="Lato Bold"/>
                <a:ea typeface="Lato Bold"/>
                <a:cs typeface="Lato Bold"/>
                <a:sym typeface="Lato Bold"/>
              </a:rPr>
              <a:t>DA</a:t>
            </a:r>
          </a:p>
        </p:txBody>
      </p:sp>
      <p:sp>
        <p:nvSpPr>
          <p:cNvPr name="TextBox 7" id="7"/>
          <p:cNvSpPr txBox="true"/>
          <p:nvPr/>
        </p:nvSpPr>
        <p:spPr>
          <a:xfrm rot="0">
            <a:off x="351232" y="1191815"/>
            <a:ext cx="10634804" cy="438150"/>
          </a:xfrm>
          <a:prstGeom prst="rect">
            <a:avLst/>
          </a:prstGeom>
        </p:spPr>
        <p:txBody>
          <a:bodyPr anchor="t" rtlCol="false" tIns="0" lIns="0" bIns="0" rIns="0">
            <a:spAutoFit/>
          </a:bodyPr>
          <a:lstStyle/>
          <a:p>
            <a:pPr algn="just">
              <a:lnSpc>
                <a:spcPts val="3479"/>
              </a:lnSpc>
              <a:spcBef>
                <a:spcPct val="0"/>
              </a:spcBef>
            </a:pPr>
            <a:r>
              <a:rPr lang="en-US" b="true" sz="2899">
                <a:solidFill>
                  <a:srgbClr val="000000"/>
                </a:solidFill>
                <a:latin typeface="Lato Bold"/>
                <a:ea typeface="Lato Bold"/>
                <a:cs typeface="Lato Bold"/>
                <a:sym typeface="Lato Bold"/>
              </a:rPr>
              <a:t>So sá</a:t>
            </a:r>
            <a:r>
              <a:rPr lang="en-US" b="true" sz="2899">
                <a:solidFill>
                  <a:srgbClr val="000000"/>
                </a:solidFill>
                <a:latin typeface="Lato Bold"/>
                <a:ea typeface="Lato Bold"/>
                <a:cs typeface="Lato Bold"/>
                <a:sym typeface="Lato Bold"/>
              </a:rPr>
              <a:t>nh nhóm Readmission và Non-readmission</a:t>
            </a:r>
          </a:p>
        </p:txBody>
      </p:sp>
      <p:sp>
        <p:nvSpPr>
          <p:cNvPr name="TextBox 8" id="8"/>
          <p:cNvSpPr txBox="true"/>
          <p:nvPr/>
        </p:nvSpPr>
        <p:spPr>
          <a:xfrm rot="0">
            <a:off x="8611599" y="7422266"/>
            <a:ext cx="8598048" cy="1647825"/>
          </a:xfrm>
          <a:prstGeom prst="rect">
            <a:avLst/>
          </a:prstGeom>
        </p:spPr>
        <p:txBody>
          <a:bodyPr anchor="t" rtlCol="false" tIns="0" lIns="0" bIns="0" rIns="0">
            <a:spAutoFit/>
          </a:bodyPr>
          <a:lstStyle/>
          <a:p>
            <a:pPr algn="l" marL="582925" indent="-291463" lvl="1">
              <a:lnSpc>
                <a:spcPts val="3239"/>
              </a:lnSpc>
              <a:spcBef>
                <a:spcPct val="0"/>
              </a:spcBef>
              <a:buFont typeface="Arial"/>
              <a:buChar char="•"/>
            </a:pPr>
            <a:r>
              <a:rPr lang="en-US" sz="2699">
                <a:solidFill>
                  <a:srgbClr val="000000"/>
                </a:solidFill>
                <a:latin typeface="Lato"/>
                <a:ea typeface="Lato"/>
                <a:cs typeface="Lato"/>
                <a:sym typeface="Lato"/>
              </a:rPr>
              <a:t>T</a:t>
            </a:r>
            <a:r>
              <a:rPr lang="en-US" sz="2699">
                <a:solidFill>
                  <a:srgbClr val="000000"/>
                </a:solidFill>
                <a:latin typeface="Lato"/>
                <a:ea typeface="Lato"/>
                <a:cs typeface="Lato"/>
                <a:sym typeface="Lato"/>
              </a:rPr>
              <a:t>iền sử nhập viện là nhóm đặc trưng cho thấy khác biệt rõ giữa hai nhóm</a:t>
            </a:r>
          </a:p>
          <a:p>
            <a:pPr algn="l" marL="582925" indent="-291463" lvl="1">
              <a:lnSpc>
                <a:spcPts val="3239"/>
              </a:lnSpc>
              <a:spcBef>
                <a:spcPct val="0"/>
              </a:spcBef>
              <a:buFont typeface="Arial"/>
              <a:buChar char="•"/>
            </a:pPr>
            <a:r>
              <a:rPr lang="en-US" sz="2699">
                <a:solidFill>
                  <a:srgbClr val="000000"/>
                </a:solidFill>
                <a:latin typeface="Lato"/>
                <a:ea typeface="Lato"/>
                <a:cs typeface="Lato"/>
                <a:sym typeface="Lato"/>
              </a:rPr>
              <a:t>Nhóm tái nhập viện có số lần nhập viện trước cao hơn.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351232" y="1944290"/>
            <a:ext cx="12531764" cy="6830272"/>
          </a:xfrm>
          <a:custGeom>
            <a:avLst/>
            <a:gdLst/>
            <a:ahLst/>
            <a:cxnLst/>
            <a:rect r="r" b="b" t="t" l="l"/>
            <a:pathLst>
              <a:path h="6830272" w="12531764">
                <a:moveTo>
                  <a:pt x="0" y="0"/>
                </a:moveTo>
                <a:lnTo>
                  <a:pt x="12531764" y="0"/>
                </a:lnTo>
                <a:lnTo>
                  <a:pt x="12531764" y="6830272"/>
                </a:lnTo>
                <a:lnTo>
                  <a:pt x="0" y="6830272"/>
                </a:lnTo>
                <a:lnTo>
                  <a:pt x="0" y="0"/>
                </a:lnTo>
                <a:close/>
              </a:path>
            </a:pathLst>
          </a:custGeom>
          <a:blipFill>
            <a:blip r:embed="rId4"/>
            <a:stretch>
              <a:fillRect l="0" t="0" r="0" b="0"/>
            </a:stretch>
          </a:blipFill>
        </p:spPr>
      </p:sp>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5" id="5"/>
          <p:cNvSpPr txBox="true"/>
          <p:nvPr/>
        </p:nvSpPr>
        <p:spPr>
          <a:xfrm rot="0">
            <a:off x="-4565619" y="213361"/>
            <a:ext cx="11545525" cy="666750"/>
          </a:xfrm>
          <a:prstGeom prst="rect">
            <a:avLst/>
          </a:prstGeom>
        </p:spPr>
        <p:txBody>
          <a:bodyPr anchor="t" rtlCol="false" tIns="0" lIns="0" bIns="0" rIns="0">
            <a:spAutoFit/>
          </a:bodyPr>
          <a:lstStyle/>
          <a:p>
            <a:pPr algn="ctr">
              <a:lnSpc>
                <a:spcPts val="5280"/>
              </a:lnSpc>
              <a:spcBef>
                <a:spcPct val="0"/>
              </a:spcBef>
            </a:pPr>
            <a:r>
              <a:rPr lang="en-US" b="true" sz="4400">
                <a:solidFill>
                  <a:srgbClr val="FFFFFF"/>
                </a:solidFill>
                <a:latin typeface="Lato Bold"/>
                <a:ea typeface="Lato Bold"/>
                <a:cs typeface="Lato Bold"/>
                <a:sym typeface="Lato Bold"/>
              </a:rPr>
              <a:t>E</a:t>
            </a:r>
            <a:r>
              <a:rPr lang="en-US" b="true" sz="4400">
                <a:solidFill>
                  <a:srgbClr val="FFFFFF"/>
                </a:solidFill>
                <a:latin typeface="Lato Bold"/>
                <a:ea typeface="Lato Bold"/>
                <a:cs typeface="Lato Bold"/>
                <a:sym typeface="Lato Bold"/>
              </a:rPr>
              <a:t>DA</a:t>
            </a:r>
          </a:p>
        </p:txBody>
      </p:sp>
      <p:sp>
        <p:nvSpPr>
          <p:cNvPr name="TextBox 6" id="6"/>
          <p:cNvSpPr txBox="true"/>
          <p:nvPr/>
        </p:nvSpPr>
        <p:spPr>
          <a:xfrm rot="0">
            <a:off x="351232" y="1191815"/>
            <a:ext cx="10634804" cy="438150"/>
          </a:xfrm>
          <a:prstGeom prst="rect">
            <a:avLst/>
          </a:prstGeom>
        </p:spPr>
        <p:txBody>
          <a:bodyPr anchor="t" rtlCol="false" tIns="0" lIns="0" bIns="0" rIns="0">
            <a:spAutoFit/>
          </a:bodyPr>
          <a:lstStyle/>
          <a:p>
            <a:pPr algn="just">
              <a:lnSpc>
                <a:spcPts val="3479"/>
              </a:lnSpc>
              <a:spcBef>
                <a:spcPct val="0"/>
              </a:spcBef>
            </a:pPr>
            <a:r>
              <a:rPr lang="en-US" b="true" sz="2899">
                <a:solidFill>
                  <a:srgbClr val="000000"/>
                </a:solidFill>
                <a:latin typeface="Lato Bold"/>
                <a:ea typeface="Lato Bold"/>
                <a:cs typeface="Lato Bold"/>
                <a:sym typeface="Lato Bold"/>
              </a:rPr>
              <a:t>EDA –</a:t>
            </a:r>
            <a:r>
              <a:rPr lang="en-US" b="true" sz="2899">
                <a:solidFill>
                  <a:srgbClr val="000000"/>
                </a:solidFill>
                <a:latin typeface="Lato Bold"/>
                <a:ea typeface="Lato Bold"/>
                <a:cs typeface="Lato Bold"/>
                <a:sym typeface="Lato Bold"/>
              </a:rPr>
              <a:t> Missing Data &amp; Correlation Analysis</a:t>
            </a:r>
          </a:p>
        </p:txBody>
      </p:sp>
      <p:sp>
        <p:nvSpPr>
          <p:cNvPr name="TextBox 7" id="7"/>
          <p:cNvSpPr txBox="true"/>
          <p:nvPr/>
        </p:nvSpPr>
        <p:spPr>
          <a:xfrm rot="0">
            <a:off x="12882996" y="2133649"/>
            <a:ext cx="4875128" cy="4105275"/>
          </a:xfrm>
          <a:prstGeom prst="rect">
            <a:avLst/>
          </a:prstGeom>
        </p:spPr>
        <p:txBody>
          <a:bodyPr anchor="t" rtlCol="false" tIns="0" lIns="0" bIns="0" rIns="0">
            <a:spAutoFit/>
          </a:bodyPr>
          <a:lstStyle/>
          <a:p>
            <a:pPr algn="just" marL="582930" indent="-291465" lvl="1">
              <a:lnSpc>
                <a:spcPts val="3240"/>
              </a:lnSpc>
              <a:spcBef>
                <a:spcPct val="0"/>
              </a:spcBef>
              <a:buFont typeface="Arial"/>
              <a:buChar char="•"/>
            </a:pPr>
            <a:r>
              <a:rPr lang="en-US" sz="2700">
                <a:solidFill>
                  <a:srgbClr val="000000"/>
                </a:solidFill>
                <a:latin typeface="Lato"/>
                <a:ea typeface="Lato"/>
                <a:cs typeface="Lato"/>
                <a:sym typeface="Lato"/>
              </a:rPr>
              <a:t>Loại các biến: eGFR, SBP, DBP, BMI, Weight do missing &gt;60%.</a:t>
            </a:r>
          </a:p>
          <a:p>
            <a:pPr algn="just" marL="582930" indent="-291465" lvl="1">
              <a:lnSpc>
                <a:spcPts val="3240"/>
              </a:lnSpc>
              <a:spcBef>
                <a:spcPct val="0"/>
              </a:spcBef>
              <a:buFont typeface="Arial"/>
              <a:buChar char="•"/>
            </a:pPr>
            <a:r>
              <a:rPr lang="en-US" sz="2700">
                <a:solidFill>
                  <a:srgbClr val="000000"/>
                </a:solidFill>
                <a:latin typeface="Lato"/>
                <a:ea typeface="Lato"/>
                <a:cs typeface="Lato"/>
                <a:sym typeface="Lato"/>
              </a:rPr>
              <a:t>Giữ biến days_since_last_discharge dù thiếu 24.6% vì đây là thiếu có cấu trúc.</a:t>
            </a:r>
          </a:p>
          <a:p>
            <a:pPr algn="just" marL="582930" indent="-291465" lvl="1">
              <a:lnSpc>
                <a:spcPts val="3240"/>
              </a:lnSpc>
              <a:spcBef>
                <a:spcPct val="0"/>
              </a:spcBef>
              <a:buFont typeface="Arial"/>
              <a:buChar char="•"/>
            </a:pPr>
            <a:r>
              <a:rPr lang="en-US" sz="2700">
                <a:solidFill>
                  <a:srgbClr val="000000"/>
                </a:solidFill>
                <a:latin typeface="Lato"/>
                <a:ea typeface="Lato"/>
                <a:cs typeface="Lato"/>
                <a:sym typeface="Lato"/>
              </a:rPr>
              <a:t>Các lab chính còn lại missing &lt;6% → giữ và impute trên Train.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8357349" y="1869114"/>
            <a:ext cx="8901951" cy="7676770"/>
          </a:xfrm>
          <a:custGeom>
            <a:avLst/>
            <a:gdLst/>
            <a:ahLst/>
            <a:cxnLst/>
            <a:rect r="r" b="b" t="t" l="l"/>
            <a:pathLst>
              <a:path h="7676770" w="8901951">
                <a:moveTo>
                  <a:pt x="0" y="0"/>
                </a:moveTo>
                <a:lnTo>
                  <a:pt x="8901951" y="0"/>
                </a:lnTo>
                <a:lnTo>
                  <a:pt x="8901951" y="7676770"/>
                </a:lnTo>
                <a:lnTo>
                  <a:pt x="0" y="7676770"/>
                </a:lnTo>
                <a:lnTo>
                  <a:pt x="0" y="0"/>
                </a:lnTo>
                <a:close/>
              </a:path>
            </a:pathLst>
          </a:custGeom>
          <a:blipFill>
            <a:blip r:embed="rId4"/>
            <a:stretch>
              <a:fillRect l="0" t="0" r="0" b="0"/>
            </a:stretch>
          </a:blipFill>
        </p:spPr>
      </p:sp>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5" id="5"/>
          <p:cNvSpPr txBox="true"/>
          <p:nvPr/>
        </p:nvSpPr>
        <p:spPr>
          <a:xfrm rot="0">
            <a:off x="-4565619" y="213361"/>
            <a:ext cx="11545525" cy="666750"/>
          </a:xfrm>
          <a:prstGeom prst="rect">
            <a:avLst/>
          </a:prstGeom>
        </p:spPr>
        <p:txBody>
          <a:bodyPr anchor="t" rtlCol="false" tIns="0" lIns="0" bIns="0" rIns="0">
            <a:spAutoFit/>
          </a:bodyPr>
          <a:lstStyle/>
          <a:p>
            <a:pPr algn="ctr">
              <a:lnSpc>
                <a:spcPts val="5280"/>
              </a:lnSpc>
              <a:spcBef>
                <a:spcPct val="0"/>
              </a:spcBef>
            </a:pPr>
            <a:r>
              <a:rPr lang="en-US" b="true" sz="4400">
                <a:solidFill>
                  <a:srgbClr val="FFFFFF"/>
                </a:solidFill>
                <a:latin typeface="Lato Bold"/>
                <a:ea typeface="Lato Bold"/>
                <a:cs typeface="Lato Bold"/>
                <a:sym typeface="Lato Bold"/>
              </a:rPr>
              <a:t>E</a:t>
            </a:r>
            <a:r>
              <a:rPr lang="en-US" b="true" sz="4400">
                <a:solidFill>
                  <a:srgbClr val="FFFFFF"/>
                </a:solidFill>
                <a:latin typeface="Lato Bold"/>
                <a:ea typeface="Lato Bold"/>
                <a:cs typeface="Lato Bold"/>
                <a:sym typeface="Lato Bold"/>
              </a:rPr>
              <a:t>DA</a:t>
            </a:r>
          </a:p>
        </p:txBody>
      </p:sp>
      <p:sp>
        <p:nvSpPr>
          <p:cNvPr name="TextBox 6" id="6"/>
          <p:cNvSpPr txBox="true"/>
          <p:nvPr/>
        </p:nvSpPr>
        <p:spPr>
          <a:xfrm rot="0">
            <a:off x="351232" y="1191815"/>
            <a:ext cx="10634804" cy="438150"/>
          </a:xfrm>
          <a:prstGeom prst="rect">
            <a:avLst/>
          </a:prstGeom>
        </p:spPr>
        <p:txBody>
          <a:bodyPr anchor="t" rtlCol="false" tIns="0" lIns="0" bIns="0" rIns="0">
            <a:spAutoFit/>
          </a:bodyPr>
          <a:lstStyle/>
          <a:p>
            <a:pPr algn="just">
              <a:lnSpc>
                <a:spcPts val="3479"/>
              </a:lnSpc>
              <a:spcBef>
                <a:spcPct val="0"/>
              </a:spcBef>
            </a:pPr>
            <a:r>
              <a:rPr lang="en-US" b="true" sz="2899">
                <a:solidFill>
                  <a:srgbClr val="000000"/>
                </a:solidFill>
                <a:latin typeface="Lato Bold"/>
                <a:ea typeface="Lato Bold"/>
                <a:cs typeface="Lato Bold"/>
                <a:sym typeface="Lato Bold"/>
              </a:rPr>
              <a:t>EDA –</a:t>
            </a:r>
            <a:r>
              <a:rPr lang="en-US" b="true" sz="2899">
                <a:solidFill>
                  <a:srgbClr val="000000"/>
                </a:solidFill>
                <a:latin typeface="Lato Bold"/>
                <a:ea typeface="Lato Bold"/>
                <a:cs typeface="Lato Bold"/>
                <a:sym typeface="Lato Bold"/>
              </a:rPr>
              <a:t> Missing Data &amp; Correlation Analysis</a:t>
            </a:r>
          </a:p>
        </p:txBody>
      </p:sp>
      <p:sp>
        <p:nvSpPr>
          <p:cNvPr name="TextBox 7" id="7"/>
          <p:cNvSpPr txBox="true"/>
          <p:nvPr/>
        </p:nvSpPr>
        <p:spPr>
          <a:xfrm rot="0">
            <a:off x="351232" y="2136462"/>
            <a:ext cx="7853614" cy="2466975"/>
          </a:xfrm>
          <a:prstGeom prst="rect">
            <a:avLst/>
          </a:prstGeom>
        </p:spPr>
        <p:txBody>
          <a:bodyPr anchor="t" rtlCol="false" tIns="0" lIns="0" bIns="0" rIns="0">
            <a:spAutoFit/>
          </a:bodyPr>
          <a:lstStyle/>
          <a:p>
            <a:pPr algn="l" marL="582930" indent="-291465" lvl="1">
              <a:lnSpc>
                <a:spcPts val="3240"/>
              </a:lnSpc>
              <a:spcBef>
                <a:spcPct val="0"/>
              </a:spcBef>
              <a:buFont typeface="Arial"/>
              <a:buChar char="•"/>
            </a:pPr>
            <a:r>
              <a:rPr lang="en-US" sz="2700">
                <a:solidFill>
                  <a:srgbClr val="000000"/>
                </a:solidFill>
                <a:latin typeface="Lato"/>
                <a:ea typeface="Lato"/>
                <a:cs typeface="Lato"/>
                <a:sym typeface="Lato"/>
              </a:rPr>
              <a:t>BMI–Wei</a:t>
            </a:r>
            <a:r>
              <a:rPr lang="en-US" sz="2700">
                <a:solidFill>
                  <a:srgbClr val="000000"/>
                </a:solidFill>
                <a:latin typeface="Lato"/>
                <a:ea typeface="Lato"/>
                <a:cs typeface="Lato"/>
                <a:sym typeface="Lato"/>
              </a:rPr>
              <a:t>ght: r ≈ 0.85, nhưng cả hai đã bị loại do missing cao.</a:t>
            </a:r>
          </a:p>
          <a:p>
            <a:pPr algn="l" marL="582930" indent="-291465" lvl="1">
              <a:lnSpc>
                <a:spcPts val="3240"/>
              </a:lnSpc>
              <a:spcBef>
                <a:spcPct val="0"/>
              </a:spcBef>
              <a:buFont typeface="Arial"/>
              <a:buChar char="•"/>
            </a:pPr>
            <a:r>
              <a:rPr lang="en-US" sz="2700">
                <a:solidFill>
                  <a:srgbClr val="000000"/>
                </a:solidFill>
                <a:latin typeface="Lato"/>
                <a:ea typeface="Lato"/>
                <a:cs typeface="Lato"/>
                <a:sym typeface="Lato"/>
              </a:rPr>
              <a:t>Prior admissions–Prior HF admissions: r ≈ 0.81 → giữ tạm vì mang ý nghĩa lâm sàng khác nhau.</a:t>
            </a:r>
          </a:p>
          <a:p>
            <a:pPr algn="l" marL="582930" indent="-291465" lvl="1">
              <a:lnSpc>
                <a:spcPts val="3240"/>
              </a:lnSpc>
              <a:spcBef>
                <a:spcPct val="0"/>
              </a:spcBef>
              <a:buFont typeface="Arial"/>
              <a:buChar char="•"/>
            </a:pPr>
            <a:r>
              <a:rPr lang="en-US" sz="2700">
                <a:solidFill>
                  <a:srgbClr val="000000"/>
                </a:solidFill>
                <a:latin typeface="Lato"/>
                <a:ea typeface="Lato"/>
                <a:cs typeface="Lato"/>
                <a:sym typeface="Lato"/>
              </a:rPr>
              <a:t>Correlation chỉ phản ánh liên hệ thống kê, không chứng minh quan hệ nhân quả.</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1752469" y="2215125"/>
            <a:ext cx="14783063" cy="4924608"/>
          </a:xfrm>
          <a:custGeom>
            <a:avLst/>
            <a:gdLst/>
            <a:ahLst/>
            <a:cxnLst/>
            <a:rect r="r" b="b" t="t" l="l"/>
            <a:pathLst>
              <a:path h="4924608" w="14783063">
                <a:moveTo>
                  <a:pt x="0" y="0"/>
                </a:moveTo>
                <a:lnTo>
                  <a:pt x="14783062" y="0"/>
                </a:lnTo>
                <a:lnTo>
                  <a:pt x="14783062" y="4924608"/>
                </a:lnTo>
                <a:lnTo>
                  <a:pt x="0" y="4924608"/>
                </a:lnTo>
                <a:lnTo>
                  <a:pt x="0" y="0"/>
                </a:lnTo>
                <a:close/>
              </a:path>
            </a:pathLst>
          </a:custGeom>
          <a:blipFill>
            <a:blip r:embed="rId4"/>
            <a:stretch>
              <a:fillRect l="0" t="0" r="0" b="0"/>
            </a:stretch>
          </a:blipFill>
        </p:spPr>
      </p:sp>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5" id="5"/>
          <p:cNvSpPr txBox="true"/>
          <p:nvPr/>
        </p:nvSpPr>
        <p:spPr>
          <a:xfrm rot="0">
            <a:off x="213195" y="159634"/>
            <a:ext cx="11545525" cy="666750"/>
          </a:xfrm>
          <a:prstGeom prst="rect">
            <a:avLst/>
          </a:prstGeom>
        </p:spPr>
        <p:txBody>
          <a:bodyPr anchor="t" rtlCol="false" tIns="0" lIns="0" bIns="0" rIns="0">
            <a:spAutoFit/>
          </a:bodyPr>
          <a:lstStyle/>
          <a:p>
            <a:pPr algn="l">
              <a:lnSpc>
                <a:spcPts val="5280"/>
              </a:lnSpc>
              <a:spcBef>
                <a:spcPct val="0"/>
              </a:spcBef>
            </a:pPr>
            <a:r>
              <a:rPr lang="en-US" b="true" sz="4400">
                <a:solidFill>
                  <a:srgbClr val="FFFFFF"/>
                </a:solidFill>
                <a:latin typeface="Lato Bold"/>
                <a:ea typeface="Lato Bold"/>
                <a:cs typeface="Lato Bold"/>
                <a:sym typeface="Lato Bold"/>
              </a:rPr>
              <a:t>Qui trình tiền xử lý dữ liệu</a:t>
            </a:r>
          </a:p>
        </p:txBody>
      </p:sp>
      <p:sp>
        <p:nvSpPr>
          <p:cNvPr name="TextBox 6" id="6"/>
          <p:cNvSpPr txBox="true"/>
          <p:nvPr/>
        </p:nvSpPr>
        <p:spPr>
          <a:xfrm rot="0">
            <a:off x="903053" y="7130208"/>
            <a:ext cx="16481895" cy="847725"/>
          </a:xfrm>
          <a:prstGeom prst="rect">
            <a:avLst/>
          </a:prstGeom>
        </p:spPr>
        <p:txBody>
          <a:bodyPr anchor="t" rtlCol="false" tIns="0" lIns="0" bIns="0" rIns="0">
            <a:spAutoFit/>
          </a:bodyPr>
          <a:lstStyle/>
          <a:p>
            <a:pPr algn="just">
              <a:lnSpc>
                <a:spcPts val="3359"/>
              </a:lnSpc>
              <a:spcBef>
                <a:spcPct val="0"/>
              </a:spcBef>
            </a:pPr>
            <a:r>
              <a:rPr lang="en-US" sz="2799">
                <a:solidFill>
                  <a:srgbClr val="000000"/>
                </a:solidFill>
                <a:latin typeface="Lato"/>
                <a:ea typeface="Lato"/>
                <a:cs typeface="Lato"/>
                <a:sym typeface="Lato"/>
              </a:rPr>
              <a:t>Mỗi hà</a:t>
            </a:r>
            <a:r>
              <a:rPr lang="en-US" sz="2799">
                <a:solidFill>
                  <a:srgbClr val="000000"/>
                </a:solidFill>
                <a:latin typeface="Lato"/>
                <a:ea typeface="Lato"/>
                <a:cs typeface="Lato"/>
                <a:sym typeface="Lato"/>
              </a:rPr>
              <a:t>ng của dataset cuối tương ứng với một lượt nhập viện suy tim và được dùng để dự báo nguy cơ tái nhập viện trong 30 ngày sau xuất viện.</a:t>
            </a:r>
          </a:p>
        </p:txBody>
      </p:sp>
      <p:sp>
        <p:nvSpPr>
          <p:cNvPr name="TextBox 7" id="7"/>
          <p:cNvSpPr txBox="true"/>
          <p:nvPr/>
        </p:nvSpPr>
        <p:spPr>
          <a:xfrm rot="0">
            <a:off x="351232" y="1191815"/>
            <a:ext cx="10634804" cy="438150"/>
          </a:xfrm>
          <a:prstGeom prst="rect">
            <a:avLst/>
          </a:prstGeom>
        </p:spPr>
        <p:txBody>
          <a:bodyPr anchor="t" rtlCol="false" tIns="0" lIns="0" bIns="0" rIns="0">
            <a:spAutoFit/>
          </a:bodyPr>
          <a:lstStyle/>
          <a:p>
            <a:pPr algn="just">
              <a:lnSpc>
                <a:spcPts val="3479"/>
              </a:lnSpc>
              <a:spcBef>
                <a:spcPct val="0"/>
              </a:spcBef>
            </a:pPr>
            <a:r>
              <a:rPr lang="en-US" b="true" sz="2899">
                <a:solidFill>
                  <a:srgbClr val="000000"/>
                </a:solidFill>
                <a:latin typeface="Lato Bold"/>
                <a:ea typeface="Lato Bold"/>
                <a:cs typeface="Lato Bold"/>
                <a:sym typeface="Lato Bold"/>
              </a:rPr>
              <a:t>P</a:t>
            </a:r>
            <a:r>
              <a:rPr lang="en-US" b="true" sz="2899">
                <a:solidFill>
                  <a:srgbClr val="000000"/>
                </a:solidFill>
                <a:latin typeface="Lato Bold"/>
                <a:ea typeface="Lato Bold"/>
                <a:cs typeface="Lato Bold"/>
                <a:sym typeface="Lato Bold"/>
              </a:rPr>
              <a:t>ipeline tiền xử lý dữ liệu</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aphicFrame>
        <p:nvGraphicFramePr>
          <p:cNvPr name="Table 3" id="3"/>
          <p:cNvGraphicFramePr>
            <a:graphicFrameLocks noGrp="true"/>
          </p:cNvGraphicFramePr>
          <p:nvPr/>
        </p:nvGraphicFramePr>
        <p:xfrm>
          <a:off x="504083" y="1991915"/>
          <a:ext cx="12059563" cy="7496175"/>
        </p:xfrm>
        <a:graphic>
          <a:graphicData uri="http://schemas.openxmlformats.org/drawingml/2006/table">
            <a:tbl>
              <a:tblPr/>
              <a:tblGrid>
                <a:gridCol w="3650082"/>
                <a:gridCol w="8409481"/>
              </a:tblGrid>
              <a:tr h="832908">
                <a:tc>
                  <a:txBody>
                    <a:bodyPr anchor="t" rtlCol="false"/>
                    <a:lstStyle/>
                    <a:p>
                      <a:pPr algn="ctr">
                        <a:lnSpc>
                          <a:spcPts val="2799"/>
                        </a:lnSpc>
                        <a:defRPr/>
                      </a:pPr>
                      <a:r>
                        <a:rPr lang="en-US" sz="1999" b="true">
                          <a:solidFill>
                            <a:srgbClr val="000000"/>
                          </a:solidFill>
                          <a:latin typeface="Lato Bold"/>
                          <a:ea typeface="Lato Bold"/>
                          <a:cs typeface="Lato Bold"/>
                          <a:sym typeface="Lato Bold"/>
                        </a:rPr>
                        <a:t>Nhóm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Lato Bold"/>
                          <a:ea typeface="Lato Bold"/>
                          <a:cs typeface="Lato Bold"/>
                          <a:sym typeface="Lato Bold"/>
                        </a:rPr>
                        <a:t>Đặc trưng tiêu biểu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Nhân khẩu học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Age, Gender, Race, Insurance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Thông tin nhập viện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LOS, Admission type/location, Discharge location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Tiền sử sử dụng dịch vụ</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Prior admissions, prior HF admissions, 30/90/365 ngày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Bệnh đồng mắc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Diabetes, CKD, COPD, AF, CAD, Anemia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Thủ thuật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Number of procedures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Thuốc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Beta blocker, ACEI/ARB/ARNI, MRA, Loop diuretic, SGLT2i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X</a:t>
                      </a:r>
                      <a:r>
                        <a:rPr lang="en-US" sz="1999">
                          <a:solidFill>
                            <a:srgbClr val="000000"/>
                          </a:solidFill>
                          <a:latin typeface="Lato"/>
                          <a:ea typeface="Lato"/>
                          <a:cs typeface="Lato"/>
                          <a:sym typeface="Lato"/>
                        </a:rPr>
                        <a:t>ét nghiệm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Creatinine, BUN, Na, K, Hb, WBC, Platelet, Glucose...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2908">
                <a:tc>
                  <a:txBody>
                    <a:bodyPr anchor="t" rtlCol="false"/>
                    <a:lstStyle/>
                    <a:p>
                      <a:pPr algn="ctr">
                        <a:lnSpc>
                          <a:spcPts val="2799"/>
                        </a:lnSpc>
                        <a:defRPr/>
                      </a:pPr>
                      <a:r>
                        <a:rPr lang="en-US" sz="1999">
                          <a:solidFill>
                            <a:srgbClr val="000000"/>
                          </a:solidFill>
                          <a:latin typeface="Lato"/>
                          <a:ea typeface="Lato"/>
                          <a:cs typeface="Lato"/>
                          <a:sym typeface="Lato"/>
                        </a:rPr>
                        <a:t>OMR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799"/>
                        </a:lnSpc>
                        <a:defRPr/>
                      </a:pPr>
                      <a:r>
                        <a:rPr lang="en-US" sz="1999">
                          <a:solidFill>
                            <a:srgbClr val="000000"/>
                          </a:solidFill>
                          <a:latin typeface="Lato"/>
                          <a:ea typeface="Lato"/>
                          <a:cs typeface="Lato"/>
                          <a:sym typeface="Lato"/>
                        </a:rPr>
                        <a:t>BMI, Weight, BP, eGFR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5" id="5"/>
          <p:cNvSpPr txBox="true"/>
          <p:nvPr/>
        </p:nvSpPr>
        <p:spPr>
          <a:xfrm rot="0">
            <a:off x="213195" y="159634"/>
            <a:ext cx="11545525" cy="666750"/>
          </a:xfrm>
          <a:prstGeom prst="rect">
            <a:avLst/>
          </a:prstGeom>
        </p:spPr>
        <p:txBody>
          <a:bodyPr anchor="t" rtlCol="false" tIns="0" lIns="0" bIns="0" rIns="0">
            <a:spAutoFit/>
          </a:bodyPr>
          <a:lstStyle/>
          <a:p>
            <a:pPr algn="l">
              <a:lnSpc>
                <a:spcPts val="5280"/>
              </a:lnSpc>
              <a:spcBef>
                <a:spcPct val="0"/>
              </a:spcBef>
            </a:pPr>
            <a:r>
              <a:rPr lang="en-US" b="true" sz="4400">
                <a:solidFill>
                  <a:srgbClr val="FFFFFF"/>
                </a:solidFill>
                <a:latin typeface="Lato Bold"/>
                <a:ea typeface="Lato Bold"/>
                <a:cs typeface="Lato Bold"/>
                <a:sym typeface="Lato Bold"/>
              </a:rPr>
              <a:t>Qui trình tiền xử lý dữ liệu</a:t>
            </a:r>
          </a:p>
        </p:txBody>
      </p:sp>
      <p:sp>
        <p:nvSpPr>
          <p:cNvPr name="TextBox 6" id="6"/>
          <p:cNvSpPr txBox="true"/>
          <p:nvPr/>
        </p:nvSpPr>
        <p:spPr>
          <a:xfrm rot="0">
            <a:off x="351232" y="1191815"/>
            <a:ext cx="10634804" cy="438150"/>
          </a:xfrm>
          <a:prstGeom prst="rect">
            <a:avLst/>
          </a:prstGeom>
        </p:spPr>
        <p:txBody>
          <a:bodyPr anchor="t" rtlCol="false" tIns="0" lIns="0" bIns="0" rIns="0">
            <a:spAutoFit/>
          </a:bodyPr>
          <a:lstStyle/>
          <a:p>
            <a:pPr algn="just">
              <a:lnSpc>
                <a:spcPts val="3479"/>
              </a:lnSpc>
              <a:spcBef>
                <a:spcPct val="0"/>
              </a:spcBef>
            </a:pPr>
            <a:r>
              <a:rPr lang="en-US" b="true" sz="2899">
                <a:solidFill>
                  <a:srgbClr val="000000"/>
                </a:solidFill>
                <a:latin typeface="Lato Bold"/>
                <a:ea typeface="Lato Bold"/>
                <a:cs typeface="Lato Bold"/>
                <a:sym typeface="Lato Bold"/>
              </a:rPr>
              <a:t>Feature Engineering - Xây dựng đặc trưng</a:t>
            </a:r>
          </a:p>
        </p:txBody>
      </p:sp>
      <p:sp>
        <p:nvSpPr>
          <p:cNvPr name="TextBox 7" id="7"/>
          <p:cNvSpPr txBox="true"/>
          <p:nvPr/>
        </p:nvSpPr>
        <p:spPr>
          <a:xfrm rot="0">
            <a:off x="12782375" y="1982390"/>
            <a:ext cx="4724845" cy="2524125"/>
          </a:xfrm>
          <a:prstGeom prst="rect">
            <a:avLst/>
          </a:prstGeom>
        </p:spPr>
        <p:txBody>
          <a:bodyPr anchor="t" rtlCol="false" tIns="0" lIns="0" bIns="0" rIns="0">
            <a:spAutoFit/>
          </a:bodyPr>
          <a:lstStyle/>
          <a:p>
            <a:pPr algn="just" marL="593962" indent="-296981" lvl="1">
              <a:lnSpc>
                <a:spcPts val="3301"/>
              </a:lnSpc>
              <a:spcBef>
                <a:spcPct val="0"/>
              </a:spcBef>
              <a:buFont typeface="Arial"/>
              <a:buChar char="•"/>
            </a:pPr>
            <a:r>
              <a:rPr lang="en-US" sz="2751">
                <a:solidFill>
                  <a:srgbClr val="000000"/>
                </a:solidFill>
                <a:latin typeface="Lato"/>
                <a:ea typeface="Lato"/>
                <a:cs typeface="Lato"/>
                <a:sym typeface="Lato"/>
              </a:rPr>
              <a:t>41</a:t>
            </a:r>
            <a:r>
              <a:rPr lang="en-US" sz="2751">
                <a:solidFill>
                  <a:srgbClr val="000000"/>
                </a:solidFill>
                <a:latin typeface="Lato"/>
                <a:ea typeface="Lato"/>
                <a:cs typeface="Lato"/>
                <a:sym typeface="Lato"/>
              </a:rPr>
              <a:t> predictors trước bước mã hóa biến phân loại</a:t>
            </a:r>
          </a:p>
          <a:p>
            <a:pPr algn="just" marL="593962" indent="-296981" lvl="1">
              <a:lnSpc>
                <a:spcPts val="3301"/>
              </a:lnSpc>
              <a:spcBef>
                <a:spcPct val="0"/>
              </a:spcBef>
              <a:buFont typeface="Arial"/>
              <a:buChar char="•"/>
            </a:pPr>
            <a:r>
              <a:rPr lang="en-US" sz="2751">
                <a:solidFill>
                  <a:srgbClr val="000000"/>
                </a:solidFill>
                <a:latin typeface="Lato"/>
                <a:ea typeface="Lato"/>
                <a:cs typeface="Lato"/>
                <a:sym typeface="Lato"/>
              </a:rPr>
              <a:t>Một số biến OMR có tỷ lệ thiếu quá cao được loại khỏi mô hình đầu tiên dựa trên kết quả EDA.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3452383" y="1629965"/>
            <a:ext cx="11383234" cy="7233464"/>
          </a:xfrm>
          <a:custGeom>
            <a:avLst/>
            <a:gdLst/>
            <a:ahLst/>
            <a:cxnLst/>
            <a:rect r="r" b="b" t="t" l="l"/>
            <a:pathLst>
              <a:path h="7233464" w="11383234">
                <a:moveTo>
                  <a:pt x="0" y="0"/>
                </a:moveTo>
                <a:lnTo>
                  <a:pt x="11383234" y="0"/>
                </a:lnTo>
                <a:lnTo>
                  <a:pt x="11383234" y="7233464"/>
                </a:lnTo>
                <a:lnTo>
                  <a:pt x="0" y="7233464"/>
                </a:lnTo>
                <a:lnTo>
                  <a:pt x="0" y="0"/>
                </a:lnTo>
                <a:close/>
              </a:path>
            </a:pathLst>
          </a:custGeom>
          <a:blipFill>
            <a:blip r:embed="rId4"/>
            <a:stretch>
              <a:fillRect l="0" t="0" r="0" b="0"/>
            </a:stretch>
          </a:blipFill>
        </p:spPr>
      </p:sp>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7</a:t>
            </a:r>
          </a:p>
        </p:txBody>
      </p:sp>
      <p:sp>
        <p:nvSpPr>
          <p:cNvPr name="TextBox 5" id="5"/>
          <p:cNvSpPr txBox="true"/>
          <p:nvPr/>
        </p:nvSpPr>
        <p:spPr>
          <a:xfrm rot="0">
            <a:off x="213195" y="159634"/>
            <a:ext cx="11545525" cy="666750"/>
          </a:xfrm>
          <a:prstGeom prst="rect">
            <a:avLst/>
          </a:prstGeom>
        </p:spPr>
        <p:txBody>
          <a:bodyPr anchor="t" rtlCol="false" tIns="0" lIns="0" bIns="0" rIns="0">
            <a:spAutoFit/>
          </a:bodyPr>
          <a:lstStyle/>
          <a:p>
            <a:pPr algn="l">
              <a:lnSpc>
                <a:spcPts val="5280"/>
              </a:lnSpc>
              <a:spcBef>
                <a:spcPct val="0"/>
              </a:spcBef>
            </a:pPr>
            <a:r>
              <a:rPr lang="en-US" b="true" sz="4400">
                <a:solidFill>
                  <a:srgbClr val="FFFFFF"/>
                </a:solidFill>
                <a:latin typeface="Lato Bold"/>
                <a:ea typeface="Lato Bold"/>
                <a:cs typeface="Lato Bold"/>
                <a:sym typeface="Lato Bold"/>
              </a:rPr>
              <a:t>Qui trình tiền xử lý dữ liệu</a:t>
            </a:r>
          </a:p>
        </p:txBody>
      </p:sp>
      <p:sp>
        <p:nvSpPr>
          <p:cNvPr name="TextBox 6" id="6"/>
          <p:cNvSpPr txBox="true"/>
          <p:nvPr/>
        </p:nvSpPr>
        <p:spPr>
          <a:xfrm rot="0">
            <a:off x="351232" y="1191815"/>
            <a:ext cx="10634804" cy="438150"/>
          </a:xfrm>
          <a:prstGeom prst="rect">
            <a:avLst/>
          </a:prstGeom>
        </p:spPr>
        <p:txBody>
          <a:bodyPr anchor="t" rtlCol="false" tIns="0" lIns="0" bIns="0" rIns="0">
            <a:spAutoFit/>
          </a:bodyPr>
          <a:lstStyle/>
          <a:p>
            <a:pPr algn="just">
              <a:lnSpc>
                <a:spcPts val="3479"/>
              </a:lnSpc>
              <a:spcBef>
                <a:spcPct val="0"/>
              </a:spcBef>
            </a:pPr>
            <a:r>
              <a:rPr lang="en-US" b="true" sz="2899">
                <a:solidFill>
                  <a:srgbClr val="000000"/>
                </a:solidFill>
                <a:latin typeface="Lato Bold"/>
                <a:ea typeface="Lato Bold"/>
                <a:cs typeface="Lato Bold"/>
                <a:sym typeface="Lato Bold"/>
              </a:rPr>
              <a:t>Patient-level Split &amp; Leakage Control for Model Training</a:t>
            </a:r>
          </a:p>
        </p:txBody>
      </p:sp>
      <p:sp>
        <p:nvSpPr>
          <p:cNvPr name="TextBox 7" id="7"/>
          <p:cNvSpPr txBox="true"/>
          <p:nvPr/>
        </p:nvSpPr>
        <p:spPr>
          <a:xfrm rot="0">
            <a:off x="1028700" y="9043987"/>
            <a:ext cx="12283232" cy="419100"/>
          </a:xfrm>
          <a:prstGeom prst="rect">
            <a:avLst/>
          </a:prstGeom>
        </p:spPr>
        <p:txBody>
          <a:bodyPr anchor="t" rtlCol="false" tIns="0" lIns="0" bIns="0" rIns="0">
            <a:spAutoFit/>
          </a:bodyPr>
          <a:lstStyle/>
          <a:p>
            <a:pPr algn="ctr">
              <a:lnSpc>
                <a:spcPts val="3239"/>
              </a:lnSpc>
              <a:spcBef>
                <a:spcPct val="0"/>
              </a:spcBef>
            </a:pPr>
            <a:r>
              <a:rPr lang="en-US" b="true" sz="2699">
                <a:solidFill>
                  <a:srgbClr val="000000"/>
                </a:solidFill>
                <a:latin typeface="Lato Bold"/>
                <a:ea typeface="Lato Bold"/>
                <a:cs typeface="Lato Bold"/>
                <a:sym typeface="Lato Bold"/>
              </a:rPr>
              <a:t>→ </a:t>
            </a:r>
            <a:r>
              <a:rPr lang="en-US" sz="2699">
                <a:solidFill>
                  <a:srgbClr val="000000"/>
                </a:solidFill>
                <a:latin typeface="Lato"/>
                <a:ea typeface="Lato"/>
                <a:cs typeface="Lato"/>
                <a:sym typeface="Lato"/>
              </a:rPr>
              <a:t>Output:</a:t>
            </a:r>
            <a:r>
              <a:rPr lang="en-US" b="true" sz="2699">
                <a:solidFill>
                  <a:srgbClr val="000000"/>
                </a:solidFill>
                <a:latin typeface="Lato Bold"/>
                <a:ea typeface="Lato Bold"/>
                <a:cs typeface="Lato Bold"/>
                <a:sym typeface="Lato Bold"/>
              </a:rPr>
              <a:t> hf_model_dataset_final.csv.gz — </a:t>
            </a:r>
            <a:r>
              <a:rPr lang="en-US" sz="2699">
                <a:solidFill>
                  <a:srgbClr val="000000"/>
                </a:solidFill>
                <a:latin typeface="Lato"/>
                <a:ea typeface="Lato"/>
                <a:cs typeface="Lato"/>
                <a:sym typeface="Lato"/>
              </a:rPr>
              <a:t>sẵn sàng cho bước xây dựng mô hình</a:t>
            </a:r>
            <a:r>
              <a:rPr lang="en-US" b="true" sz="2699">
                <a:solidFill>
                  <a:srgbClr val="000000"/>
                </a:solidFill>
                <a:latin typeface="Lato Bold"/>
                <a:ea typeface="Lato Bold"/>
                <a:cs typeface="Lato Bold"/>
                <a:sym typeface="Lato Bold"/>
              </a:rPr>
              <a: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81025" y="3422734"/>
            <a:ext cx="17525950" cy="3441532"/>
          </a:xfrm>
          <a:custGeom>
            <a:avLst/>
            <a:gdLst/>
            <a:ahLst/>
            <a:cxnLst/>
            <a:rect r="r" b="b" t="t" l="l"/>
            <a:pathLst>
              <a:path h="3441532" w="17525950">
                <a:moveTo>
                  <a:pt x="0" y="0"/>
                </a:moveTo>
                <a:lnTo>
                  <a:pt x="17525950" y="0"/>
                </a:lnTo>
                <a:lnTo>
                  <a:pt x="17525950" y="3441532"/>
                </a:lnTo>
                <a:lnTo>
                  <a:pt x="0" y="3441532"/>
                </a:lnTo>
                <a:lnTo>
                  <a:pt x="0" y="0"/>
                </a:lnTo>
                <a:close/>
              </a:path>
            </a:pathLst>
          </a:custGeom>
          <a:blipFill>
            <a:blip r:embed="rId3"/>
            <a:stretch>
              <a:fillRect l="0" t="0" r="0" b="0"/>
            </a:stretch>
          </a:blipFill>
          <a:ln w="19050" cap="sq">
            <a:solidFill>
              <a:srgbClr val="000000"/>
            </a:solidFill>
            <a:prstDash val="solid"/>
            <a:miter/>
          </a:ln>
        </p:spPr>
      </p:sp>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5</a:t>
            </a:r>
          </a:p>
        </p:txBody>
      </p:sp>
      <p:sp>
        <p:nvSpPr>
          <p:cNvPr name="TextBox 5" id="5"/>
          <p:cNvSpPr txBox="true"/>
          <p:nvPr/>
        </p:nvSpPr>
        <p:spPr>
          <a:xfrm rot="0">
            <a:off x="228094" y="230556"/>
            <a:ext cx="3691486"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TIMELINE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9</a:t>
            </a:r>
          </a:p>
        </p:txBody>
      </p:sp>
      <p:sp>
        <p:nvSpPr>
          <p:cNvPr name="TextBox 4" id="4"/>
          <p:cNvSpPr txBox="true"/>
          <p:nvPr/>
        </p:nvSpPr>
        <p:spPr>
          <a:xfrm rot="0">
            <a:off x="228094" y="230556"/>
            <a:ext cx="3691486" cy="619506"/>
          </a:xfrm>
          <a:prstGeom prst="rect">
            <a:avLst/>
          </a:prstGeom>
        </p:spPr>
        <p:txBody>
          <a:bodyPr anchor="t" rtlCol="false" tIns="0" lIns="0" bIns="0" rIns="0">
            <a:spAutoFit/>
          </a:bodyPr>
          <a:lstStyle/>
          <a:p>
            <a:pPr algn="just">
              <a:lnSpc>
                <a:spcPts val="4751"/>
              </a:lnSpc>
            </a:pPr>
            <a:r>
              <a:rPr lang="en-US" sz="4399" b="true">
                <a:solidFill>
                  <a:srgbClr val="FFFFFF"/>
                </a:solidFill>
                <a:latin typeface="Lato Bold"/>
                <a:ea typeface="Lato Bold"/>
                <a:cs typeface="Lato Bold"/>
                <a:sym typeface="Lato Bold"/>
              </a:rPr>
              <a:t>Workflow</a:t>
            </a:r>
          </a:p>
        </p:txBody>
      </p:sp>
      <p:sp>
        <p:nvSpPr>
          <p:cNvPr name="Freeform 5" id="5"/>
          <p:cNvSpPr/>
          <p:nvPr/>
        </p:nvSpPr>
        <p:spPr>
          <a:xfrm flipH="false" flipV="false" rot="0">
            <a:off x="3399132" y="1597153"/>
            <a:ext cx="12393032" cy="7661147"/>
          </a:xfrm>
          <a:custGeom>
            <a:avLst/>
            <a:gdLst/>
            <a:ahLst/>
            <a:cxnLst/>
            <a:rect r="r" b="b" t="t" l="l"/>
            <a:pathLst>
              <a:path h="7661147" w="12393032">
                <a:moveTo>
                  <a:pt x="0" y="0"/>
                </a:moveTo>
                <a:lnTo>
                  <a:pt x="12393032" y="0"/>
                </a:lnTo>
                <a:lnTo>
                  <a:pt x="12393032" y="7661147"/>
                </a:lnTo>
                <a:lnTo>
                  <a:pt x="0" y="7661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0081" y="4445156"/>
            <a:ext cx="7950803" cy="1270264"/>
          </a:xfrm>
          <a:prstGeom prst="rect">
            <a:avLst/>
          </a:prstGeom>
        </p:spPr>
        <p:txBody>
          <a:bodyPr anchor="t" rtlCol="false" tIns="0" lIns="0" bIns="0" rIns="0">
            <a:spAutoFit/>
          </a:bodyPr>
          <a:lstStyle/>
          <a:p>
            <a:pPr algn="l">
              <a:lnSpc>
                <a:spcPts val="9720"/>
              </a:lnSpc>
            </a:pPr>
            <a:r>
              <a:rPr lang="en-US" sz="9000" b="true">
                <a:solidFill>
                  <a:srgbClr val="C00000"/>
                </a:solidFill>
                <a:latin typeface="Lato Bold"/>
                <a:ea typeface="Lato Bold"/>
                <a:cs typeface="Lato Bold"/>
                <a:sym typeface="Lato Bold"/>
              </a:rPr>
              <a:t>THANK YOU !</a:t>
            </a:r>
          </a:p>
        </p:txBody>
      </p:sp>
      <p:sp>
        <p:nvSpPr>
          <p:cNvPr name="TextBox 4" id="4"/>
          <p:cNvSpPr txBox="true"/>
          <p:nvPr/>
        </p:nvSpPr>
        <p:spPr>
          <a:xfrm rot="0">
            <a:off x="13826204" y="9775507"/>
            <a:ext cx="3931920" cy="465772"/>
          </a:xfrm>
          <a:prstGeom prst="rect">
            <a:avLst/>
          </a:prstGeom>
        </p:spPr>
        <p:txBody>
          <a:bodyPr anchor="t" rtlCol="false" tIns="0" lIns="0" bIns="0" rIns="0">
            <a:spAutoFit/>
          </a:bodyPr>
          <a:lstStyle/>
          <a:p>
            <a:pPr algn="r">
              <a:lnSpc>
                <a:spcPts val="2160"/>
              </a:lnSpc>
            </a:pPr>
            <a:r>
              <a:rPr lang="en-US" sz="1800" b="true">
                <a:solidFill>
                  <a:srgbClr val="C00000"/>
                </a:solidFill>
                <a:latin typeface="Lato Bold"/>
                <a:ea typeface="Lato Bold"/>
                <a:cs typeface="Lato Bold"/>
                <a:sym typeface="Lato Bold"/>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DAHVvP85Ql8</dc:identifier>
  <dcterms:modified xsi:type="dcterms:W3CDTF">2011-08-01T06:04:30Z</dcterms:modified>
  <cp:revision>1</cp:revision>
  <dc:title>176336_N10_Lê Thúy Hằng_Lê Thu Trang.pptx</dc:title>
</cp:coreProperties>
</file>